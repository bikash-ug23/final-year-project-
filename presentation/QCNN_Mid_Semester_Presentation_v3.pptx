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55A64"/>
                </a:solidFill>
                <a:latin typeface="+mn-lt"/>
              </a:rPr>
              <a:t>Patches per image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Patches per image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Now</c:v>
                  </c:pt>
                  <c:pt idx="1">
                    <c:v>÷4</c:v>
                  </c:pt>
                  <c:pt idx="2">
                    <c:v>÷16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576</c:v>
                </c:pt>
                <c:pt idx="1">
                  <c:v>144</c:v>
                </c:pt>
                <c:pt idx="2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21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quantum-classical face recognition: a 4-qubit filter with 8 trainable quantum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 recognition pipeline; feature extraction decides accuracy. NISQ hardware has few qubits, so one qubit per pixel (2,304) is impossible; we use 4 qubits per 2x2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objectives: study, implement, evaluate, 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strands; the MG-QCNN combines fixed circuit, trainable rotations, entanglement, all-qubit measurement and a sliding 2x2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-&gt; 2x2 patches -&gt; one shared 4-qubit filter -&gt; 24x24x4 feature maps -&gt; fully connected layer. Same 8 parameters for every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 with RY, train RZ and RX, entangle with a CNOT chain, measure Z. The output has a closed form: f_k is the product of single-qubit terms s_0..s_k, so f_3 depends on all four pixels. Verified numerically to 7e-16.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ORL 400 images / 40 subjects; Yale 165 / 15. Grayscale, 48x48, min-max to [-1,1], times pi. The figure is illustrative with synthetic gray levels, showing why clipped z-scores saturate at +-pi.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Min-max beat Gaussian z-score on all 10 seeds for both datasets. Gain 3.17 points on ORL and 8.44 on the original Yale setup. Explanation (saturation at +-pi) is plausible but untested.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0: loss falls from 3.03 to 0.0031; train accuracy reaches 100% at epoch 3; test accuracy 95.83% from epoch 14 (115 of 120).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random 70:30 splits, 1000-shot test. ORL 94.667 +- 1.675 (max 97.5). Yale original 78.889, selected 85.556 +- 4.792 (max 91.111). One Yale test image = 2.22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split 96/24 from the training set, seeds 0-2. Best: square crop, lr 1e-3, 60 epochs (76.4%). Augmentation lowered validation accuracy (77.8 -&gt; 68.1) and widened the train-validation gap (22 -&gt; 29 points).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Pooled over ten seeds: 1,200 ORL and 450 Yale test predictions. Yale matrix is from the earlier square-crop tuning run (84.89%).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needs the parameter-shift rule: 17 runs per patch, 9,792 per image per step, 8.2e7 for one ORL run. Simulator backpropagation gives the same gradient (mismatch 2.2e-15) in one pass, so it is used for training. Test time uses 1000 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Achieved: pipeline, closed form verified, ORL 94.67%, Yale 85.56%. Limitations: noise-free simulation, Yale over-fitting, no ablation/noise study yet. Future: feature-extraction stage before the quantum layer so far fewer patches need circuit runs and real parameter-shift training becomes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80467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T Silcha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114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Quantum Face Recognition with Multi-Gate Quantum Convolutional Neural Network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B. Tech. Project Mid-Semester Evaluation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Subrata Lodh (2314051)  |  Yesh Agarwal (2314080)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8046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Supervisor: Dr. Banani Basu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32120"/>
            <a:ext cx="8046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Department of Electronics and Communication Engineering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8046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National Institute of Technology Silchar, Assam (India) - 788010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188720"/>
            <a:ext cx="2121408" cy="640080"/>
          </a:xfrm>
          <a:prstGeom prst="pentag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Acquire image</a:t>
            </a:r>
            <a:endParaRPr lang="en-US" sz="1400" dirty="0"/>
          </a:p>
        </p:txBody>
      </p:sp>
      <p:sp>
        <p:nvSpPr>
          <p:cNvPr id="6" name="step 2"/>
          <p:cNvSpPr/>
          <p:nvPr/>
        </p:nvSpPr>
        <p:spPr>
          <a:xfrm>
            <a:off x="2468880" y="1188720"/>
            <a:ext cx="2121408" cy="640080"/>
          </a:xfrm>
          <a:prstGeom prst="chevr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670048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Pre-process</a:t>
            </a:r>
            <a:endParaRPr lang="en-US" sz="1400" dirty="0"/>
          </a:p>
        </p:txBody>
      </p:sp>
      <p:sp>
        <p:nvSpPr>
          <p:cNvPr id="8" name="step 3"/>
          <p:cNvSpPr/>
          <p:nvPr/>
        </p:nvSpPr>
        <p:spPr>
          <a:xfrm>
            <a:off x="4480560" y="1188720"/>
            <a:ext cx="2121408" cy="640080"/>
          </a:xfrm>
          <a:prstGeom prst="chevron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81728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Extract features</a:t>
            </a:r>
            <a:endParaRPr lang="en-US" sz="1400" dirty="0"/>
          </a:p>
        </p:txBody>
      </p:sp>
      <p:sp>
        <p:nvSpPr>
          <p:cNvPr id="10" name="step 4"/>
          <p:cNvSpPr/>
          <p:nvPr/>
        </p:nvSpPr>
        <p:spPr>
          <a:xfrm>
            <a:off x="6492240" y="1188720"/>
            <a:ext cx="2121408" cy="640080"/>
          </a:xfrm>
          <a:prstGeom prst="chevr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93408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 Match identity</a:t>
            </a:r>
            <a:endParaRPr lang="en-US" sz="1400" dirty="0"/>
          </a:p>
        </p:txBody>
      </p:sp>
      <p:sp>
        <p:nvSpPr>
          <p:cNvPr id="12" name="stat card"/>
          <p:cNvSpPr/>
          <p:nvPr/>
        </p:nvSpPr>
        <p:spPr>
          <a:xfrm>
            <a:off x="457200" y="21031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"/>
          <p:cNvSpPr txBox="1"/>
          <p:nvPr/>
        </p:nvSpPr>
        <p:spPr>
          <a:xfrm>
            <a:off x="457200" y="2176272"/>
            <a:ext cx="1920240" cy="7086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97.35%</a:t>
            </a:r>
            <a:endParaRPr lang="en-US" sz="2800" dirty="0"/>
          </a:p>
        </p:txBody>
      </p:sp>
      <p:sp>
        <p:nvSpPr>
          <p:cNvPr id="14" name="stat label"/>
          <p:cNvSpPr txBox="1"/>
          <p:nvPr/>
        </p:nvSpPr>
        <p:spPr>
          <a:xfrm>
            <a:off x="548640" y="2840126"/>
            <a:ext cx="1737360" cy="62362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DeepFace accuracy on the LFW benchmark</a:t>
            </a:r>
            <a:endParaRPr lang="en-US" sz="1200" dirty="0"/>
          </a:p>
        </p:txBody>
      </p:sp>
      <p:sp>
        <p:nvSpPr>
          <p:cNvPr id="15" name="stat card"/>
          <p:cNvSpPr/>
          <p:nvPr/>
        </p:nvSpPr>
        <p:spPr>
          <a:xfrm>
            <a:off x="2560320" y="21031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value"/>
          <p:cNvSpPr txBox="1"/>
          <p:nvPr/>
        </p:nvSpPr>
        <p:spPr>
          <a:xfrm>
            <a:off x="2560320" y="2176272"/>
            <a:ext cx="1920240" cy="7086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 – 27</a:t>
            </a:r>
            <a:endParaRPr lang="en-US" sz="2800" dirty="0"/>
          </a:p>
        </p:txBody>
      </p:sp>
      <p:sp>
        <p:nvSpPr>
          <p:cNvPr id="17" name="stat label"/>
          <p:cNvSpPr txBox="1"/>
          <p:nvPr/>
        </p:nvSpPr>
        <p:spPr>
          <a:xfrm>
            <a:off x="2651760" y="2840126"/>
            <a:ext cx="1737360" cy="62362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qubits on commonly accessible IBM devices</a:t>
            </a:r>
            <a:endParaRPr lang="en-US" sz="1200" dirty="0"/>
          </a:p>
        </p:txBody>
      </p:sp>
      <p:sp>
        <p:nvSpPr>
          <p:cNvPr id="18" name="stat card"/>
          <p:cNvSpPr/>
          <p:nvPr/>
        </p:nvSpPr>
        <p:spPr>
          <a:xfrm>
            <a:off x="4663440" y="21031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tat value"/>
          <p:cNvSpPr txBox="1"/>
          <p:nvPr/>
        </p:nvSpPr>
        <p:spPr>
          <a:xfrm>
            <a:off x="4663440" y="2176272"/>
            <a:ext cx="1920240" cy="7086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2,304</a:t>
            </a:r>
            <a:endParaRPr lang="en-US" sz="2800" dirty="0"/>
          </a:p>
        </p:txBody>
      </p:sp>
      <p:sp>
        <p:nvSpPr>
          <p:cNvPr id="20" name="stat label"/>
          <p:cNvSpPr txBox="1"/>
          <p:nvPr/>
        </p:nvSpPr>
        <p:spPr>
          <a:xfrm>
            <a:off x="4754880" y="2840126"/>
            <a:ext cx="1737360" cy="62362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qubits if every pixel of a 48×48 image needs its own</a:t>
            </a:r>
            <a:endParaRPr lang="en-US" sz="1200" dirty="0"/>
          </a:p>
        </p:txBody>
      </p:sp>
      <p:sp>
        <p:nvSpPr>
          <p:cNvPr id="21" name="stat card"/>
          <p:cNvSpPr/>
          <p:nvPr/>
        </p:nvSpPr>
        <p:spPr>
          <a:xfrm>
            <a:off x="6766560" y="210312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stat value"/>
          <p:cNvSpPr txBox="1"/>
          <p:nvPr/>
        </p:nvSpPr>
        <p:spPr>
          <a:xfrm>
            <a:off x="6766560" y="2176272"/>
            <a:ext cx="1920240" cy="7086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3" name="stat label"/>
          <p:cNvSpPr txBox="1"/>
          <p:nvPr/>
        </p:nvSpPr>
        <p:spPr>
          <a:xfrm>
            <a:off x="6858000" y="2840126"/>
            <a:ext cx="1737360" cy="62362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qubits for one 2×2 patch, our approach</a:t>
            </a:r>
            <a:endParaRPr lang="en-US" sz="1200" dirty="0"/>
          </a:p>
        </p:txBody>
      </p:sp>
      <p:sp>
        <p:nvSpPr>
          <p:cNvPr id="24" name="label card"/>
          <p:cNvSpPr/>
          <p:nvPr/>
        </p:nvSpPr>
        <p:spPr>
          <a:xfrm>
            <a:off x="457200" y="3794760"/>
            <a:ext cx="18288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94760"/>
            <a:ext cx="1828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26" name="text card"/>
          <p:cNvSpPr/>
          <p:nvPr/>
        </p:nvSpPr>
        <p:spPr>
          <a:xfrm>
            <a:off x="2377440" y="3794760"/>
            <a:ext cx="6309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468880" y="3794760"/>
            <a:ext cx="61264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NISQ devices offer only a few tens of reliable qubits, so a whole face cannot be encoded.</a:t>
            </a:r>
            <a:endParaRPr lang="en-US" sz="1500" dirty="0"/>
          </a:p>
        </p:txBody>
      </p:sp>
      <p:sp>
        <p:nvSpPr>
          <p:cNvPr id="28" name="label card"/>
          <p:cNvSpPr/>
          <p:nvPr/>
        </p:nvSpPr>
        <p:spPr>
          <a:xfrm>
            <a:off x="457200" y="4663440"/>
            <a:ext cx="18288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4663440"/>
            <a:ext cx="1828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idea</a:t>
            </a:r>
            <a:endParaRPr lang="en-US" sz="1600" dirty="0"/>
          </a:p>
        </p:txBody>
      </p:sp>
      <p:sp>
        <p:nvSpPr>
          <p:cNvPr id="30" name="text card"/>
          <p:cNvSpPr/>
          <p:nvPr/>
        </p:nvSpPr>
        <p:spPr>
          <a:xfrm>
            <a:off x="2377440" y="4663440"/>
            <a:ext cx="6309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468880" y="4663440"/>
            <a:ext cx="61264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Slide one small trainable 4-qubit circuit over 2×2 patches, like a CNN kernel.</a:t>
            </a:r>
            <a:endParaRPr lang="en-US" sz="1500" dirty="0"/>
          </a:p>
        </p:txBody>
      </p:sp>
      <p:sp>
        <p:nvSpPr>
          <p:cNvPr id="32" name="label card"/>
          <p:cNvSpPr/>
          <p:nvPr/>
        </p:nvSpPr>
        <p:spPr>
          <a:xfrm>
            <a:off x="457200" y="5532120"/>
            <a:ext cx="1828800" cy="749808"/>
          </a:xfrm>
          <a:prstGeom prst="roundRect">
            <a:avLst>
              <a:gd name="adj" fmla="val 97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5532120"/>
            <a:ext cx="18288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34" name="text card"/>
          <p:cNvSpPr/>
          <p:nvPr/>
        </p:nvSpPr>
        <p:spPr>
          <a:xfrm>
            <a:off x="2377440" y="5532120"/>
            <a:ext cx="6309360" cy="749808"/>
          </a:xfrm>
          <a:prstGeom prst="roundRect">
            <a:avLst>
              <a:gd name="adj" fmla="val 97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468880" y="5532120"/>
            <a:ext cx="61264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Recognise faces (ORL, Yale) with a hybrid network that has only 8 trainable quantum parameters.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4" name="objective card"/>
          <p:cNvSpPr/>
          <p:nvPr/>
        </p:nvSpPr>
        <p:spPr>
          <a:xfrm>
            <a:off x="457200" y="12801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disc"/>
          <p:cNvSpPr/>
          <p:nvPr/>
        </p:nvSpPr>
        <p:spPr>
          <a:xfrm>
            <a:off x="731520" y="1600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Study quantum M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466344" cy="4663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1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56032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Study quantum ML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Angle encoding, variational circuits, quanvolution</a:t>
            </a:r>
            <a:endParaRPr lang="en-US" sz="1400" dirty="0"/>
          </a:p>
        </p:txBody>
      </p:sp>
      <p:sp>
        <p:nvSpPr>
          <p:cNvPr id="10" name="objective card"/>
          <p:cNvSpPr/>
          <p:nvPr/>
        </p:nvSpPr>
        <p:spPr>
          <a:xfrm>
            <a:off x="4663440" y="12801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disc"/>
          <p:cNvSpPr/>
          <p:nvPr/>
        </p:nvSpPr>
        <p:spPr>
          <a:xfrm>
            <a:off x="4937760" y="16002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Implement the MG-QCN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801368"/>
            <a:ext cx="466344" cy="4663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6384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256032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Implement the MG-QCNN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93776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PennyLane + PyTorch, with an analytical model of the filter</a:t>
            </a:r>
            <a:endParaRPr lang="en-US" sz="1400" dirty="0"/>
          </a:p>
        </p:txBody>
      </p:sp>
      <p:sp>
        <p:nvSpPr>
          <p:cNvPr id="16" name="objective card"/>
          <p:cNvSpPr/>
          <p:nvPr/>
        </p:nvSpPr>
        <p:spPr>
          <a:xfrm>
            <a:off x="457200" y="37947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disc"/>
          <p:cNvSpPr/>
          <p:nvPr/>
        </p:nvSpPr>
        <p:spPr>
          <a:xfrm>
            <a:off x="731520" y="41148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Evaluate on ORL and Ya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315968"/>
            <a:ext cx="466344" cy="4663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657600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3</a:t>
            </a:r>
            <a:endParaRPr lang="en-US" sz="3200" dirty="0"/>
          </a:p>
        </p:txBody>
      </p:sp>
      <p:sp>
        <p:nvSpPr>
          <p:cNvPr id="20" name="Text 14"/>
          <p:cNvSpPr txBox="1"/>
          <p:nvPr/>
        </p:nvSpPr>
        <p:spPr>
          <a:xfrm>
            <a:off x="731520" y="507492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Evaluate on ORL and Yale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" y="54864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random 70:30 splits, 1000 measurement shots</a:t>
            </a:r>
            <a:endParaRPr lang="en-US" sz="1400" dirty="0"/>
          </a:p>
        </p:txBody>
      </p:sp>
      <p:sp>
        <p:nvSpPr>
          <p:cNvPr id="22" name="objective card"/>
          <p:cNvSpPr/>
          <p:nvPr/>
        </p:nvSpPr>
        <p:spPr>
          <a:xfrm>
            <a:off x="4663440" y="379476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disc"/>
          <p:cNvSpPr/>
          <p:nvPr/>
        </p:nvSpPr>
        <p:spPr>
          <a:xfrm>
            <a:off x="4937760" y="41148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Analyse the desig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4315968"/>
            <a:ext cx="466344" cy="4663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863840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4</a:t>
            </a:r>
            <a:endParaRPr lang="en-US" sz="3200" dirty="0"/>
          </a:p>
        </p:txBody>
      </p:sp>
      <p:sp>
        <p:nvSpPr>
          <p:cNvPr id="26" name="Text 19"/>
          <p:cNvSpPr txBox="1"/>
          <p:nvPr/>
        </p:nvSpPr>
        <p:spPr>
          <a:xfrm>
            <a:off x="4937760" y="507492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Analyse the design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4937760" y="54864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Gates, entanglement, filter size, shot noise, hardware cost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Literature Review</a:t>
            </a:r>
            <a:endParaRPr lang="en-US" sz="3000" dirty="0"/>
          </a:p>
        </p:txBody>
      </p:sp>
      <p:sp>
        <p:nvSpPr>
          <p:cNvPr id="4" name="column card"/>
          <p:cNvSpPr/>
          <p:nvPr/>
        </p:nvSpPr>
        <p:spPr>
          <a:xfrm>
            <a:off x="457200" y="12344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Classical face recognition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246888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Gabor + KNN/SVM gave way to deep CNNs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 accuracy, heavy computation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Compute demand outgrows hardware</a:t>
            </a:r>
            <a:endParaRPr lang="en-US" sz="1500" dirty="0"/>
          </a:p>
        </p:txBody>
      </p:sp>
      <p:sp>
        <p:nvSpPr>
          <p:cNvPr id="7" name="column card"/>
          <p:cNvSpPr/>
          <p:nvPr/>
        </p:nvSpPr>
        <p:spPr>
          <a:xfrm>
            <a:off x="3246120" y="12344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Variational circuits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011680"/>
            <a:ext cx="246888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Rotation angles act as weights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Trained by gradient descent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Barren plateaus favour small, fixed circuits</a:t>
            </a:r>
            <a:endParaRPr lang="en-US" sz="1500" dirty="0"/>
          </a:p>
        </p:txBody>
      </p:sp>
      <p:sp>
        <p:nvSpPr>
          <p:cNvPr id="10" name="column card"/>
          <p:cNvSpPr/>
          <p:nvPr/>
        </p:nvSpPr>
        <p:spPr>
          <a:xfrm>
            <a:off x="6035040" y="12344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Quantum convolution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011680"/>
            <a:ext cx="246888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Henderson: random, fixed filter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Mattern: trainable but random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Oh: fixed, one measured qubit</a:t>
            </a:r>
            <a:endParaRPr lang="en-US" sz="15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MG-QCNN: fixed, trainable, all 4 qubits measured</a:t>
            </a:r>
            <a:endParaRPr lang="en-US" sz="1500" dirty="0"/>
          </a:p>
        </p:txBody>
      </p:sp>
      <p:sp>
        <p:nvSpPr>
          <p:cNvPr id="13" name="note strip"/>
          <p:cNvSpPr/>
          <p:nvPr/>
        </p:nvSpPr>
        <p:spPr>
          <a:xfrm>
            <a:off x="457200" y="5029200"/>
            <a:ext cx="822960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ote"/>
          <p:cNvSpPr txBox="1"/>
          <p:nvPr/>
        </p:nvSpPr>
        <p:spPr>
          <a:xfrm>
            <a:off x="594360" y="5029200"/>
            <a:ext cx="79552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Research gap: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small datasets, noise-free simulation and no hardware test in the reference work. We add an independent implementation, an analytical model of the filter and a cost and noise analysis.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4" name="stage"/>
          <p:cNvSpPr/>
          <p:nvPr/>
        </p:nvSpPr>
        <p:spPr>
          <a:xfrm>
            <a:off x="457200" y="118872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61872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48×48 gray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1901952" y="1572768"/>
            <a:ext cx="219456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age"/>
          <p:cNvSpPr/>
          <p:nvPr/>
        </p:nvSpPr>
        <p:spPr>
          <a:xfrm>
            <a:off x="2148840" y="118872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48840" y="1261872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Patches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2×2, stride 2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3593592" y="1572768"/>
            <a:ext cx="219456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stage"/>
          <p:cNvSpPr/>
          <p:nvPr/>
        </p:nvSpPr>
        <p:spPr>
          <a:xfrm>
            <a:off x="3840480" y="118872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261872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Quantum filter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4 qubits, 8 θ</a:t>
            </a:r>
            <a:endParaRPr lang="en-US" sz="1300" dirty="0"/>
          </a:p>
        </p:txBody>
      </p:sp>
      <p:sp>
        <p:nvSpPr>
          <p:cNvPr id="15" name="arrow"/>
          <p:cNvSpPr/>
          <p:nvPr/>
        </p:nvSpPr>
        <p:spPr>
          <a:xfrm>
            <a:off x="5285232" y="1572768"/>
            <a:ext cx="219456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tage"/>
          <p:cNvSpPr/>
          <p:nvPr/>
        </p:nvSpPr>
        <p:spPr>
          <a:xfrm>
            <a:off x="5532120" y="118872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32120" y="1261872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Feature maps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24×24×4</a:t>
            </a:r>
            <a:endParaRPr lang="en-US" sz="1300" dirty="0"/>
          </a:p>
        </p:txBody>
      </p:sp>
      <p:sp>
        <p:nvSpPr>
          <p:cNvPr id="19" name="arrow"/>
          <p:cNvSpPr/>
          <p:nvPr/>
        </p:nvSpPr>
        <p:spPr>
          <a:xfrm>
            <a:off x="6976872" y="1572768"/>
            <a:ext cx="219456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tage"/>
          <p:cNvSpPr/>
          <p:nvPr/>
        </p:nvSpPr>
        <p:spPr>
          <a:xfrm>
            <a:off x="7223760" y="118872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1261872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FC + softmax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40 / 15 classes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84048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quantum part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22376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classical part</a:t>
            </a:r>
            <a:endParaRPr lang="en-US" sz="1100" dirty="0"/>
          </a:p>
        </p:txBody>
      </p:sp>
      <p:sp>
        <p:nvSpPr>
          <p:cNvPr id="25" name="pixel"/>
          <p:cNvSpPr/>
          <p:nvPr/>
        </p:nvSpPr>
        <p:spPr>
          <a:xfrm>
            <a:off x="731520" y="288036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pixel"/>
          <p:cNvSpPr/>
          <p:nvPr/>
        </p:nvSpPr>
        <p:spPr>
          <a:xfrm>
            <a:off x="1042416" y="288036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pixel"/>
          <p:cNvSpPr/>
          <p:nvPr/>
        </p:nvSpPr>
        <p:spPr>
          <a:xfrm>
            <a:off x="1353312" y="288036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pixel"/>
          <p:cNvSpPr/>
          <p:nvPr/>
        </p:nvSpPr>
        <p:spPr>
          <a:xfrm>
            <a:off x="1664208" y="288036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pixel"/>
          <p:cNvSpPr/>
          <p:nvPr/>
        </p:nvSpPr>
        <p:spPr>
          <a:xfrm>
            <a:off x="1975104" y="288036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pixel"/>
          <p:cNvSpPr/>
          <p:nvPr/>
        </p:nvSpPr>
        <p:spPr>
          <a:xfrm>
            <a:off x="2286000" y="288036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pixel"/>
          <p:cNvSpPr/>
          <p:nvPr/>
        </p:nvSpPr>
        <p:spPr>
          <a:xfrm>
            <a:off x="2596896" y="288036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pixel"/>
          <p:cNvSpPr/>
          <p:nvPr/>
        </p:nvSpPr>
        <p:spPr>
          <a:xfrm>
            <a:off x="2907792" y="288036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pixel"/>
          <p:cNvSpPr/>
          <p:nvPr/>
        </p:nvSpPr>
        <p:spPr>
          <a:xfrm>
            <a:off x="731520" y="319125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pixel"/>
          <p:cNvSpPr/>
          <p:nvPr/>
        </p:nvSpPr>
        <p:spPr>
          <a:xfrm>
            <a:off x="1042416" y="319125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pixel"/>
          <p:cNvSpPr/>
          <p:nvPr/>
        </p:nvSpPr>
        <p:spPr>
          <a:xfrm>
            <a:off x="1353312" y="319125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pixel"/>
          <p:cNvSpPr/>
          <p:nvPr/>
        </p:nvSpPr>
        <p:spPr>
          <a:xfrm>
            <a:off x="1664208" y="319125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pixel"/>
          <p:cNvSpPr/>
          <p:nvPr/>
        </p:nvSpPr>
        <p:spPr>
          <a:xfrm>
            <a:off x="1975104" y="319125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pixel"/>
          <p:cNvSpPr/>
          <p:nvPr/>
        </p:nvSpPr>
        <p:spPr>
          <a:xfrm>
            <a:off x="2286000" y="319125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pixel"/>
          <p:cNvSpPr/>
          <p:nvPr/>
        </p:nvSpPr>
        <p:spPr>
          <a:xfrm>
            <a:off x="2596896" y="319125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pixel"/>
          <p:cNvSpPr/>
          <p:nvPr/>
        </p:nvSpPr>
        <p:spPr>
          <a:xfrm>
            <a:off x="2907792" y="319125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pixel"/>
          <p:cNvSpPr/>
          <p:nvPr/>
        </p:nvSpPr>
        <p:spPr>
          <a:xfrm>
            <a:off x="731520" y="350215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2" name="pixel"/>
          <p:cNvSpPr/>
          <p:nvPr/>
        </p:nvSpPr>
        <p:spPr>
          <a:xfrm>
            <a:off x="1042416" y="350215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3" name="pixel"/>
          <p:cNvSpPr/>
          <p:nvPr/>
        </p:nvSpPr>
        <p:spPr>
          <a:xfrm>
            <a:off x="1353312" y="350215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pixel"/>
          <p:cNvSpPr/>
          <p:nvPr/>
        </p:nvSpPr>
        <p:spPr>
          <a:xfrm>
            <a:off x="1664208" y="350215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patch cell"/>
          <p:cNvSpPr/>
          <p:nvPr/>
        </p:nvSpPr>
        <p:spPr>
          <a:xfrm>
            <a:off x="1975104" y="3502152"/>
            <a:ext cx="310896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patch cell"/>
          <p:cNvSpPr/>
          <p:nvPr/>
        </p:nvSpPr>
        <p:spPr>
          <a:xfrm>
            <a:off x="2286000" y="3502152"/>
            <a:ext cx="310896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7" name="pixel"/>
          <p:cNvSpPr/>
          <p:nvPr/>
        </p:nvSpPr>
        <p:spPr>
          <a:xfrm>
            <a:off x="2596896" y="350215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8" name="pixel"/>
          <p:cNvSpPr/>
          <p:nvPr/>
        </p:nvSpPr>
        <p:spPr>
          <a:xfrm>
            <a:off x="2907792" y="350215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pixel"/>
          <p:cNvSpPr/>
          <p:nvPr/>
        </p:nvSpPr>
        <p:spPr>
          <a:xfrm>
            <a:off x="731520" y="3813048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0" name="pixel"/>
          <p:cNvSpPr/>
          <p:nvPr/>
        </p:nvSpPr>
        <p:spPr>
          <a:xfrm>
            <a:off x="1042416" y="3813048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1" name="pixel"/>
          <p:cNvSpPr/>
          <p:nvPr/>
        </p:nvSpPr>
        <p:spPr>
          <a:xfrm>
            <a:off x="1353312" y="3813048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2" name="pixel"/>
          <p:cNvSpPr/>
          <p:nvPr/>
        </p:nvSpPr>
        <p:spPr>
          <a:xfrm>
            <a:off x="1664208" y="3813048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3" name="patch cell"/>
          <p:cNvSpPr/>
          <p:nvPr/>
        </p:nvSpPr>
        <p:spPr>
          <a:xfrm>
            <a:off x="1975104" y="3813048"/>
            <a:ext cx="310896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patch cell"/>
          <p:cNvSpPr/>
          <p:nvPr/>
        </p:nvSpPr>
        <p:spPr>
          <a:xfrm>
            <a:off x="2286000" y="3813048"/>
            <a:ext cx="310896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5" name="pixel"/>
          <p:cNvSpPr/>
          <p:nvPr/>
        </p:nvSpPr>
        <p:spPr>
          <a:xfrm>
            <a:off x="2596896" y="3813048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6" name="pixel"/>
          <p:cNvSpPr/>
          <p:nvPr/>
        </p:nvSpPr>
        <p:spPr>
          <a:xfrm>
            <a:off x="2907792" y="3813048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7" name="pixel"/>
          <p:cNvSpPr/>
          <p:nvPr/>
        </p:nvSpPr>
        <p:spPr>
          <a:xfrm>
            <a:off x="731520" y="4123944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8" name="pixel"/>
          <p:cNvSpPr/>
          <p:nvPr/>
        </p:nvSpPr>
        <p:spPr>
          <a:xfrm>
            <a:off x="1042416" y="4123944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9" name="pixel"/>
          <p:cNvSpPr/>
          <p:nvPr/>
        </p:nvSpPr>
        <p:spPr>
          <a:xfrm>
            <a:off x="1353312" y="4123944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0" name="pixel"/>
          <p:cNvSpPr/>
          <p:nvPr/>
        </p:nvSpPr>
        <p:spPr>
          <a:xfrm>
            <a:off x="1664208" y="4123944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1" name="pixel"/>
          <p:cNvSpPr/>
          <p:nvPr/>
        </p:nvSpPr>
        <p:spPr>
          <a:xfrm>
            <a:off x="1975104" y="4123944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pixel"/>
          <p:cNvSpPr/>
          <p:nvPr/>
        </p:nvSpPr>
        <p:spPr>
          <a:xfrm>
            <a:off x="2286000" y="4123944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3" name="pixel"/>
          <p:cNvSpPr/>
          <p:nvPr/>
        </p:nvSpPr>
        <p:spPr>
          <a:xfrm>
            <a:off x="2596896" y="4123944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4" name="pixel"/>
          <p:cNvSpPr/>
          <p:nvPr/>
        </p:nvSpPr>
        <p:spPr>
          <a:xfrm>
            <a:off x="2907792" y="4123944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5" name="pixel"/>
          <p:cNvSpPr/>
          <p:nvPr/>
        </p:nvSpPr>
        <p:spPr>
          <a:xfrm>
            <a:off x="731520" y="443484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6" name="pixel"/>
          <p:cNvSpPr/>
          <p:nvPr/>
        </p:nvSpPr>
        <p:spPr>
          <a:xfrm>
            <a:off x="1042416" y="443484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7" name="pixel"/>
          <p:cNvSpPr/>
          <p:nvPr/>
        </p:nvSpPr>
        <p:spPr>
          <a:xfrm>
            <a:off x="1353312" y="443484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8" name="pixel"/>
          <p:cNvSpPr/>
          <p:nvPr/>
        </p:nvSpPr>
        <p:spPr>
          <a:xfrm>
            <a:off x="1664208" y="443484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9" name="pixel"/>
          <p:cNvSpPr/>
          <p:nvPr/>
        </p:nvSpPr>
        <p:spPr>
          <a:xfrm>
            <a:off x="1975104" y="443484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0" name="pixel"/>
          <p:cNvSpPr/>
          <p:nvPr/>
        </p:nvSpPr>
        <p:spPr>
          <a:xfrm>
            <a:off x="2286000" y="443484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1" name="pixel"/>
          <p:cNvSpPr/>
          <p:nvPr/>
        </p:nvSpPr>
        <p:spPr>
          <a:xfrm>
            <a:off x="2596896" y="443484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2" name="pixel"/>
          <p:cNvSpPr/>
          <p:nvPr/>
        </p:nvSpPr>
        <p:spPr>
          <a:xfrm>
            <a:off x="2907792" y="4434840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3" name="pixel"/>
          <p:cNvSpPr/>
          <p:nvPr/>
        </p:nvSpPr>
        <p:spPr>
          <a:xfrm>
            <a:off x="731520" y="474573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4" name="pixel"/>
          <p:cNvSpPr/>
          <p:nvPr/>
        </p:nvSpPr>
        <p:spPr>
          <a:xfrm>
            <a:off x="1042416" y="474573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5" name="pixel"/>
          <p:cNvSpPr/>
          <p:nvPr/>
        </p:nvSpPr>
        <p:spPr>
          <a:xfrm>
            <a:off x="1353312" y="474573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6" name="pixel"/>
          <p:cNvSpPr/>
          <p:nvPr/>
        </p:nvSpPr>
        <p:spPr>
          <a:xfrm>
            <a:off x="1664208" y="474573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7" name="pixel"/>
          <p:cNvSpPr/>
          <p:nvPr/>
        </p:nvSpPr>
        <p:spPr>
          <a:xfrm>
            <a:off x="1975104" y="474573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8" name="pixel"/>
          <p:cNvSpPr/>
          <p:nvPr/>
        </p:nvSpPr>
        <p:spPr>
          <a:xfrm>
            <a:off x="2286000" y="474573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9" name="pixel"/>
          <p:cNvSpPr/>
          <p:nvPr/>
        </p:nvSpPr>
        <p:spPr>
          <a:xfrm>
            <a:off x="2596896" y="474573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0" name="pixel"/>
          <p:cNvSpPr/>
          <p:nvPr/>
        </p:nvSpPr>
        <p:spPr>
          <a:xfrm>
            <a:off x="2907792" y="4745736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1" name="pixel"/>
          <p:cNvSpPr/>
          <p:nvPr/>
        </p:nvSpPr>
        <p:spPr>
          <a:xfrm>
            <a:off x="731520" y="505663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2" name="pixel"/>
          <p:cNvSpPr/>
          <p:nvPr/>
        </p:nvSpPr>
        <p:spPr>
          <a:xfrm>
            <a:off x="1042416" y="505663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3" name="pixel"/>
          <p:cNvSpPr/>
          <p:nvPr/>
        </p:nvSpPr>
        <p:spPr>
          <a:xfrm>
            <a:off x="1353312" y="505663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4" name="pixel"/>
          <p:cNvSpPr/>
          <p:nvPr/>
        </p:nvSpPr>
        <p:spPr>
          <a:xfrm>
            <a:off x="1664208" y="505663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5" name="pixel"/>
          <p:cNvSpPr/>
          <p:nvPr/>
        </p:nvSpPr>
        <p:spPr>
          <a:xfrm>
            <a:off x="1975104" y="505663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6" name="pixel"/>
          <p:cNvSpPr/>
          <p:nvPr/>
        </p:nvSpPr>
        <p:spPr>
          <a:xfrm>
            <a:off x="2286000" y="505663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7" name="pixel"/>
          <p:cNvSpPr/>
          <p:nvPr/>
        </p:nvSpPr>
        <p:spPr>
          <a:xfrm>
            <a:off x="2596896" y="505663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8" name="pixel"/>
          <p:cNvSpPr/>
          <p:nvPr/>
        </p:nvSpPr>
        <p:spPr>
          <a:xfrm>
            <a:off x="2907792" y="5056632"/>
            <a:ext cx="310896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48640" y="5413248"/>
            <a:ext cx="285292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2×2 patch = 4 pixels</a:t>
            </a:r>
            <a:endParaRPr lang="en-US" sz="1200" dirty="0"/>
          </a:p>
        </p:txBody>
      </p:sp>
      <p:sp>
        <p:nvSpPr>
          <p:cNvPr id="90" name="arrow"/>
          <p:cNvSpPr/>
          <p:nvPr/>
        </p:nvSpPr>
        <p:spPr>
          <a:xfrm>
            <a:off x="3429000" y="3931920"/>
            <a:ext cx="5029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1" name="filter box"/>
          <p:cNvSpPr/>
          <p:nvPr/>
        </p:nvSpPr>
        <p:spPr>
          <a:xfrm>
            <a:off x="4023360" y="324612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402336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Quantum filter</a:t>
            </a:r>
            <a:endParaRPr lang="en-US" sz="1700" dirty="0"/>
          </a:p>
        </p:txBody>
      </p:sp>
      <p:sp>
        <p:nvSpPr>
          <p:cNvPr id="93" name="Text 90"/>
          <p:cNvSpPr txBox="1"/>
          <p:nvPr/>
        </p:nvSpPr>
        <p:spPr>
          <a:xfrm>
            <a:off x="411480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8 parameters for every patch</a:t>
            </a:r>
            <a:endParaRPr lang="en-US" sz="1400" dirty="0"/>
          </a:p>
        </p:txBody>
      </p:sp>
      <p:sp>
        <p:nvSpPr>
          <p:cNvPr id="94" name="Text 91"/>
          <p:cNvSpPr txBox="1"/>
          <p:nvPr/>
        </p:nvSpPr>
        <p:spPr>
          <a:xfrm>
            <a:off x="4114800" y="4343400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 pixels in → 4 values out</a:t>
            </a:r>
            <a:endParaRPr lang="en-US" sz="1300" dirty="0"/>
          </a:p>
        </p:txBody>
      </p:sp>
      <p:sp>
        <p:nvSpPr>
          <p:cNvPr id="95" name="arrow"/>
          <p:cNvSpPr/>
          <p:nvPr/>
        </p:nvSpPr>
        <p:spPr>
          <a:xfrm>
            <a:off x="6217920" y="3931920"/>
            <a:ext cx="5029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6" name="feature map 1"/>
          <p:cNvSpPr/>
          <p:nvPr/>
        </p:nvSpPr>
        <p:spPr>
          <a:xfrm>
            <a:off x="6858000" y="4160520"/>
            <a:ext cx="1097280" cy="10972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7" name="feature map 2"/>
          <p:cNvSpPr/>
          <p:nvPr/>
        </p:nvSpPr>
        <p:spPr>
          <a:xfrm>
            <a:off x="7040880" y="3977640"/>
            <a:ext cx="1097280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8" name="feature map 3"/>
          <p:cNvSpPr/>
          <p:nvPr/>
        </p:nvSpPr>
        <p:spPr>
          <a:xfrm>
            <a:off x="7223760" y="3794760"/>
            <a:ext cx="109728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9" name="feature map 4"/>
          <p:cNvSpPr/>
          <p:nvPr/>
        </p:nvSpPr>
        <p:spPr>
          <a:xfrm>
            <a:off x="7406640" y="3611880"/>
            <a:ext cx="109728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76656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feature maps</a:t>
            </a:r>
            <a:endParaRPr lang="en-US" sz="1200" dirty="0"/>
          </a:p>
        </p:txBody>
      </p:sp>
      <p:sp>
        <p:nvSpPr>
          <p:cNvPr id="101" name="note strip"/>
          <p:cNvSpPr/>
          <p:nvPr/>
        </p:nvSpPr>
        <p:spPr>
          <a:xfrm>
            <a:off x="457200" y="57607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2" name="note"/>
          <p:cNvSpPr txBox="1"/>
          <p:nvPr/>
        </p:nvSpPr>
        <p:spPr>
          <a:xfrm>
            <a:off x="594360" y="5760720"/>
            <a:ext cx="79552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24 × 24 = 576 patches   ×   4 outputs   =   2,304 features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Quantum Filter: Circuit &amp; Closed Form</a:t>
            </a:r>
            <a:endParaRPr lang="en-US" sz="3000" dirty="0"/>
          </a:p>
        </p:txBody>
      </p:sp>
      <p:pic>
        <p:nvPicPr>
          <p:cNvPr id="4" name="Image 0" descr="Four-qubit filter circu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663440" cy="2060519"/>
          </a:xfrm>
          <a:prstGeom prst="rect">
            <a:avLst/>
          </a:prstGeom>
        </p:spPr>
      </p:pic>
      <p:sp>
        <p:nvSpPr>
          <p:cNvPr id="5" name="tag"/>
          <p:cNvSpPr/>
          <p:nvPr/>
        </p:nvSpPr>
        <p:spPr>
          <a:xfrm>
            <a:off x="457200" y="3337560"/>
            <a:ext cx="14904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3364992"/>
            <a:ext cx="14904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Encode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703320"/>
            <a:ext cx="14904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RY(x) per pixel</a:t>
            </a:r>
            <a:endParaRPr lang="en-US" sz="1200" dirty="0"/>
          </a:p>
        </p:txBody>
      </p:sp>
      <p:sp>
        <p:nvSpPr>
          <p:cNvPr id="8" name="tag"/>
          <p:cNvSpPr/>
          <p:nvPr/>
        </p:nvSpPr>
        <p:spPr>
          <a:xfrm>
            <a:off x="2029968" y="3337560"/>
            <a:ext cx="14904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029968" y="3364992"/>
            <a:ext cx="14904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Train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029968" y="3703320"/>
            <a:ext cx="14904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RZ, RX: 8 θ</a:t>
            </a:r>
            <a:endParaRPr lang="en-US" sz="1200" dirty="0"/>
          </a:p>
        </p:txBody>
      </p:sp>
      <p:sp>
        <p:nvSpPr>
          <p:cNvPr id="11" name="tag"/>
          <p:cNvSpPr/>
          <p:nvPr/>
        </p:nvSpPr>
        <p:spPr>
          <a:xfrm>
            <a:off x="3602736" y="3337560"/>
            <a:ext cx="14904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02736" y="3364992"/>
            <a:ext cx="14904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Entangle + measure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602736" y="3703320"/>
            <a:ext cx="14904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CNOT chain, ⟨Z⟩</a:t>
            </a:r>
            <a:endParaRPr lang="en-US" sz="1200" dirty="0"/>
          </a:p>
        </p:txBody>
      </p:sp>
      <p:sp>
        <p:nvSpPr>
          <p:cNvPr id="14" name="equation card"/>
          <p:cNvSpPr/>
          <p:nvPr/>
        </p:nvSpPr>
        <p:spPr>
          <a:xfrm>
            <a:off x="5349240" y="1188720"/>
            <a:ext cx="3337560" cy="2926080"/>
          </a:xfrm>
          <a:prstGeom prst="roundRect">
            <a:avLst>
              <a:gd name="adj" fmla="val 2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40680" y="1234440"/>
            <a:ext cx="3154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Closed form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440680" y="1645920"/>
            <a:ext cx="3154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</a:t>
            </a:r>
            <a:pPr algn="l" indent="0" marL="0">
              <a:buNone/>
            </a:pPr>
            <a:r>
              <a:rPr lang="en-US" sz="1500" i="1" baseline="-40000" dirty="0">
                <a:solidFill>
                  <a:schemeClr val="tx1"/>
                </a:solidFill>
              </a:rPr>
              <a:t>i</a:t>
            </a:r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 = cos θ</a:t>
            </a:r>
            <a:pPr algn="l" indent="0" marL="0">
              <a:buNone/>
            </a:pPr>
            <a:r>
              <a:rPr lang="en-US" sz="1500" i="1" baseline="-40000" dirty="0">
                <a:solidFill>
                  <a:schemeClr val="tx1"/>
                </a:solidFill>
              </a:rPr>
              <a:t>2i+1</a:t>
            </a:r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 cos </a:t>
            </a:r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x</a:t>
            </a:r>
            <a:pPr algn="l" indent="0" marL="0">
              <a:buNone/>
            </a:pPr>
            <a:r>
              <a:rPr lang="en-US" sz="1500" i="1" baseline="-40000" dirty="0">
                <a:solidFill>
                  <a:schemeClr val="tx1"/>
                </a:solidFill>
              </a:rPr>
              <a:t>i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      + sin θ</a:t>
            </a:r>
            <a:pPr algn="l" indent="0" marL="0">
              <a:buNone/>
            </a:pPr>
            <a:r>
              <a:rPr lang="en-US" sz="1500" i="1" baseline="-40000" dirty="0">
                <a:solidFill>
                  <a:schemeClr val="tx1"/>
                </a:solidFill>
              </a:rPr>
              <a:t>2i+1</a:t>
            </a:r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 sin θ</a:t>
            </a:r>
            <a:pPr algn="l" indent="0" marL="0">
              <a:buNone/>
            </a:pPr>
            <a:r>
              <a:rPr lang="en-US" sz="1500" i="1" baseline="-40000" dirty="0">
                <a:solidFill>
                  <a:schemeClr val="tx1"/>
                </a:solidFill>
              </a:rPr>
              <a:t>2i</a:t>
            </a:r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 sin </a:t>
            </a:r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x</a:t>
            </a:r>
            <a:pPr algn="l" indent="0" marL="0">
              <a:buNone/>
            </a:pPr>
            <a:r>
              <a:rPr lang="en-US" sz="1500" i="1" baseline="-40000" dirty="0">
                <a:solidFill>
                  <a:schemeClr val="tx1"/>
                </a:solidFill>
              </a:rPr>
              <a:t>i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4068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accent1"/>
                </a:solidFill>
              </a:rPr>
              <a:t>f</a:t>
            </a:r>
            <a:pPr algn="ctr" indent="0" marL="0">
              <a:buNone/>
            </a:pPr>
            <a:r>
              <a:rPr lang="en-US" sz="2600" b="1" i="1" baseline="-40000" dirty="0">
                <a:solidFill>
                  <a:schemeClr val="accent1"/>
                </a:solidFill>
              </a:rPr>
              <a:t>k</a:t>
            </a:r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 = </a:t>
            </a:r>
            <a:pPr algn="ctr" indent="0" marL="0">
              <a:buNone/>
            </a:pPr>
            <a:r>
              <a:rPr lang="en-US" sz="2600" b="1" i="1" dirty="0">
                <a:solidFill>
                  <a:schemeClr val="accent1"/>
                </a:solidFill>
              </a:rPr>
              <a:t>s</a:t>
            </a:r>
            <a:pPr algn="ctr" indent="0" marL="0">
              <a:buNone/>
            </a:pPr>
            <a:r>
              <a:rPr lang="en-US" sz="2600" b="1" i="1" baseline="-40000" dirty="0">
                <a:solidFill>
                  <a:schemeClr val="accent1"/>
                </a:solidFill>
              </a:rPr>
              <a:t>0</a:t>
            </a:r>
            <a:pPr algn="ctr" indent="0" marL="0">
              <a:buNone/>
            </a:pPr>
            <a:r>
              <a:rPr lang="en-US" sz="2600" b="1" i="1" dirty="0">
                <a:solidFill>
                  <a:schemeClr val="accent1"/>
                </a:solidFill>
              </a:rPr>
              <a:t>s</a:t>
            </a:r>
            <a:pPr algn="ctr" indent="0" marL="0">
              <a:buNone/>
            </a:pPr>
            <a:r>
              <a:rPr lang="en-US" sz="2600" b="1" i="1" baseline="-40000" dirty="0">
                <a:solidFill>
                  <a:schemeClr val="accent1"/>
                </a:solidFill>
              </a:rPr>
              <a:t>1</a:t>
            </a:r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 ⋯ </a:t>
            </a:r>
            <a:pPr algn="ctr" indent="0" marL="0">
              <a:buNone/>
            </a:pPr>
            <a:r>
              <a:rPr lang="en-US" sz="2600" b="1" i="1" dirty="0">
                <a:solidFill>
                  <a:schemeClr val="accent1"/>
                </a:solidFill>
              </a:rPr>
              <a:t>s</a:t>
            </a:r>
            <a:pPr algn="ctr" indent="0" marL="0">
              <a:buNone/>
            </a:pPr>
            <a:r>
              <a:rPr lang="en-US" sz="2600" b="1" i="1" baseline="-40000" dirty="0">
                <a:solidFill>
                  <a:schemeClr val="accent1"/>
                </a:solidFill>
              </a:rPr>
              <a:t>k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5440680" y="3200400"/>
            <a:ext cx="3154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f</a:t>
            </a:r>
            <a:pPr algn="l" indent="0" marL="0">
              <a:buNone/>
            </a:pPr>
            <a:r>
              <a:rPr lang="en-US" sz="1300" i="1" baseline="-40000" dirty="0">
                <a:solidFill>
                  <a:schemeClr val="tx2"/>
                </a:solidFill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sees 1 pixel, </a:t>
            </a:r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f</a:t>
            </a:r>
            <a:pPr algn="l" indent="0" marL="0">
              <a:buNone/>
            </a:pPr>
            <a:r>
              <a:rPr lang="en-US" sz="1300" i="1" baseline="-40000" dirty="0">
                <a:solidFill>
                  <a:schemeClr val="tx2"/>
                </a:solidFill>
              </a:rPr>
              <a:t>3</a:t>
            </a:r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sees all 4 pixels. Checked against the full simulation: error 7×10⁻¹⁶</a:t>
            </a:r>
            <a:endParaRPr lang="en-US" sz="1300" dirty="0"/>
          </a:p>
        </p:txBody>
      </p:sp>
      <p:pic>
        <p:nvPicPr>
          <p:cNvPr id="19" name="Image 1" descr="Filter response pl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0"/>
            <a:ext cx="7498080" cy="2082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&amp; Pre-processing</a:t>
            </a:r>
            <a:endParaRPr lang="en-US" sz="3000" dirty="0"/>
          </a:p>
        </p:txBody>
      </p:sp>
      <p:sp>
        <p:nvSpPr>
          <p:cNvPr id="4" name="dataset card"/>
          <p:cNvSpPr/>
          <p:nvPr/>
        </p:nvSpPr>
        <p:spPr>
          <a:xfrm>
            <a:off x="457200" y="11887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ORL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3444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400 images · 40 subjects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92×112 px · 10 per subject · split 280 / 120</a:t>
            </a:r>
            <a:endParaRPr lang="en-US" sz="1300" dirty="0"/>
          </a:p>
        </p:txBody>
      </p:sp>
      <p:sp>
        <p:nvSpPr>
          <p:cNvPr id="8" name="dataset card"/>
          <p:cNvSpPr/>
          <p:nvPr/>
        </p:nvSpPr>
        <p:spPr>
          <a:xfrm>
            <a:off x="4663440" y="11887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1234440"/>
            <a:ext cx="1097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Yale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123444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165 images · 15 subjects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320×243 px · 11 per subject · split 120 / 45</a:t>
            </a:r>
            <a:endParaRPr lang="en-US" sz="1300" dirty="0"/>
          </a:p>
        </p:txBody>
      </p:sp>
      <p:sp>
        <p:nvSpPr>
          <p:cNvPr id="12" name="step 1"/>
          <p:cNvSpPr/>
          <p:nvPr/>
        </p:nvSpPr>
        <p:spPr>
          <a:xfrm>
            <a:off x="457200" y="2514600"/>
            <a:ext cx="1719072" cy="502920"/>
          </a:xfrm>
          <a:prstGeom prst="pentag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514600"/>
            <a:ext cx="142646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Grayscale</a:t>
            </a:r>
            <a:endParaRPr lang="en-US" sz="1300" dirty="0"/>
          </a:p>
        </p:txBody>
      </p:sp>
      <p:sp>
        <p:nvSpPr>
          <p:cNvPr id="14" name="step 2"/>
          <p:cNvSpPr/>
          <p:nvPr/>
        </p:nvSpPr>
        <p:spPr>
          <a:xfrm>
            <a:off x="2066544" y="2514600"/>
            <a:ext cx="1719072" cy="502920"/>
          </a:xfrm>
          <a:prstGeom prst="chevr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67712" y="2514600"/>
            <a:ext cx="13350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Resize 48×48</a:t>
            </a:r>
            <a:endParaRPr lang="en-US" sz="1300" dirty="0"/>
          </a:p>
        </p:txBody>
      </p:sp>
      <p:sp>
        <p:nvSpPr>
          <p:cNvPr id="16" name="step 3"/>
          <p:cNvSpPr/>
          <p:nvPr/>
        </p:nvSpPr>
        <p:spPr>
          <a:xfrm>
            <a:off x="3675888" y="2514600"/>
            <a:ext cx="1719072" cy="502920"/>
          </a:xfrm>
          <a:prstGeom prst="chevr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77056" y="2514600"/>
            <a:ext cx="13350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Min–max [−1, 1]</a:t>
            </a:r>
            <a:endParaRPr lang="en-US" sz="1300" dirty="0"/>
          </a:p>
        </p:txBody>
      </p:sp>
      <p:sp>
        <p:nvSpPr>
          <p:cNvPr id="18" name="step 4"/>
          <p:cNvSpPr/>
          <p:nvPr/>
        </p:nvSpPr>
        <p:spPr>
          <a:xfrm>
            <a:off x="5285232" y="2514600"/>
            <a:ext cx="1719072" cy="502920"/>
          </a:xfrm>
          <a:prstGeom prst="chevr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0" y="2514600"/>
            <a:ext cx="13350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× π</a:t>
            </a:r>
            <a:endParaRPr lang="en-US" sz="1300" dirty="0"/>
          </a:p>
        </p:txBody>
      </p:sp>
      <p:sp>
        <p:nvSpPr>
          <p:cNvPr id="20" name="step 5"/>
          <p:cNvSpPr/>
          <p:nvPr/>
        </p:nvSpPr>
        <p:spPr>
          <a:xfrm>
            <a:off x="6894576" y="2514600"/>
            <a:ext cx="1719072" cy="502920"/>
          </a:xfrm>
          <a:prstGeom prst="chevron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95744" y="2514600"/>
            <a:ext cx="13350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Angle x</a:t>
            </a:r>
            <a:endParaRPr lang="en-US" sz="1300" dirty="0"/>
          </a:p>
        </p:txBody>
      </p:sp>
      <p:pic>
        <p:nvPicPr>
          <p:cNvPr id="22" name="Image 0" descr="Illustrative pixel scaling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54680"/>
            <a:ext cx="8229600" cy="2468880"/>
          </a:xfrm>
          <a:prstGeom prst="rect">
            <a:avLst/>
          </a:prstGeom>
        </p:spPr>
      </p:pic>
      <p:sp>
        <p:nvSpPr>
          <p:cNvPr id="23" name="note strip"/>
          <p:cNvSpPr/>
          <p:nvPr/>
        </p:nvSpPr>
        <p:spPr>
          <a:xfrm>
            <a:off x="457200" y="57150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note"/>
          <p:cNvSpPr txBox="1"/>
          <p:nvPr/>
        </p:nvSpPr>
        <p:spPr>
          <a:xfrm>
            <a:off x="594360" y="5715000"/>
            <a:ext cx="7955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Illustrative (synthetic gray levels):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clipped z-scores pile about a third of the pixels at ±π; min–max keeps the full angle range.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Effect of Pixel Scaling</a:t>
            </a:r>
            <a:endParaRPr lang="en-US" sz="3000" dirty="0"/>
          </a:p>
        </p:txBody>
      </p:sp>
      <p:pic>
        <p:nvPicPr>
          <p:cNvPr id="4" name="Image 0" descr="Per-seed accuracy min-max versus Gaussi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20040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457200" y="452628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457200" y="4599432"/>
            <a:ext cx="2606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 / 10</a:t>
            </a:r>
            <a:endParaRPr lang="en-US" sz="3000" dirty="0"/>
          </a:p>
        </p:txBody>
      </p:sp>
      <p:sp>
        <p:nvSpPr>
          <p:cNvPr id="7" name="stat label"/>
          <p:cNvSpPr txBox="1"/>
          <p:nvPr/>
        </p:nvSpPr>
        <p:spPr>
          <a:xfrm>
            <a:off x="548640" y="5144414"/>
            <a:ext cx="2423160" cy="5230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seeds won by min–max, both datasets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3268980" y="452628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3268980" y="4599432"/>
            <a:ext cx="2606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+3.17 pts</a:t>
            </a:r>
            <a:endParaRPr lang="en-US" sz="3000" dirty="0"/>
          </a:p>
        </p:txBody>
      </p:sp>
      <p:sp>
        <p:nvSpPr>
          <p:cNvPr id="10" name="stat label"/>
          <p:cNvSpPr txBox="1"/>
          <p:nvPr/>
        </p:nvSpPr>
        <p:spPr>
          <a:xfrm>
            <a:off x="3360420" y="5144414"/>
            <a:ext cx="2423160" cy="5230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ORL mean: 94.67 vs 91.50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6080760" y="452628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6080760" y="4599432"/>
            <a:ext cx="2606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+8.44 pts</a:t>
            </a:r>
            <a:endParaRPr lang="en-US" sz="3000" dirty="0"/>
          </a:p>
        </p:txBody>
      </p:sp>
      <p:sp>
        <p:nvSpPr>
          <p:cNvPr id="13" name="stat label"/>
          <p:cNvSpPr txBox="1"/>
          <p:nvPr/>
        </p:nvSpPr>
        <p:spPr>
          <a:xfrm>
            <a:off x="6172200" y="5144414"/>
            <a:ext cx="2423160" cy="5230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Yale mean (original set-up): 78.89 vs 70.44</a:t>
            </a:r>
            <a:endParaRPr lang="en-US" sz="1200" dirty="0"/>
          </a:p>
        </p:txBody>
      </p:sp>
      <p:sp>
        <p:nvSpPr>
          <p:cNvPr id="14" name="note strip"/>
          <p:cNvSpPr/>
          <p:nvPr/>
        </p:nvSpPr>
        <p:spPr>
          <a:xfrm>
            <a:off x="457200" y="58521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ote"/>
          <p:cNvSpPr txBox="1"/>
          <p:nvPr/>
        </p:nvSpPr>
        <p:spPr>
          <a:xfrm>
            <a:off x="594360" y="5852160"/>
            <a:ext cx="7955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Likely reason (untested):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clipped z-scores saturate bright and dark pixels at ±π.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Training Behaviour on ORL</a:t>
            </a:r>
            <a:endParaRPr lang="en-US" sz="3000" dirty="0"/>
          </a:p>
        </p:txBody>
      </p:sp>
      <p:pic>
        <p:nvPicPr>
          <p:cNvPr id="4" name="Image 0" descr="ORL training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863840" cy="305816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457200" y="43891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457200" y="4462272"/>
            <a:ext cx="2606040" cy="6172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3.03 → 0.0031</a:t>
            </a:r>
            <a:endParaRPr lang="en-US" sz="2400" dirty="0"/>
          </a:p>
        </p:txBody>
      </p:sp>
      <p:sp>
        <p:nvSpPr>
          <p:cNvPr id="7" name="stat label"/>
          <p:cNvSpPr txBox="1"/>
          <p:nvPr/>
        </p:nvSpPr>
        <p:spPr>
          <a:xfrm>
            <a:off x="548640" y="5031029"/>
            <a:ext cx="2423160" cy="54315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training loss, epoch 1 to 30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3268980" y="43891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3268980" y="4462272"/>
            <a:ext cx="2606040" cy="6172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100%</a:t>
            </a:r>
            <a:endParaRPr lang="en-US" sz="3000" dirty="0"/>
          </a:p>
        </p:txBody>
      </p:sp>
      <p:sp>
        <p:nvSpPr>
          <p:cNvPr id="10" name="stat label"/>
          <p:cNvSpPr txBox="1"/>
          <p:nvPr/>
        </p:nvSpPr>
        <p:spPr>
          <a:xfrm>
            <a:off x="3360420" y="5031029"/>
            <a:ext cx="2423160" cy="54315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train accuracy from epoch 3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6080760" y="43891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6080760" y="4462272"/>
            <a:ext cx="2606040" cy="6172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95.83%</a:t>
            </a:r>
            <a:endParaRPr lang="en-US" sz="3000" dirty="0"/>
          </a:p>
        </p:txBody>
      </p:sp>
      <p:sp>
        <p:nvSpPr>
          <p:cNvPr id="13" name="stat label"/>
          <p:cNvSpPr txBox="1"/>
          <p:nvPr/>
        </p:nvSpPr>
        <p:spPr>
          <a:xfrm>
            <a:off x="6172200" y="5031029"/>
            <a:ext cx="2423160" cy="54315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 accuracy from epoch 14 (115 of 120)</a:t>
            </a:r>
            <a:endParaRPr lang="en-US" sz="1200" dirty="0"/>
          </a:p>
        </p:txBody>
      </p:sp>
      <p:sp>
        <p:nvSpPr>
          <p:cNvPr id="14" name="note strip"/>
          <p:cNvSpPr/>
          <p:nvPr/>
        </p:nvSpPr>
        <p:spPr>
          <a:xfrm>
            <a:off x="457200" y="576072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ote"/>
          <p:cNvSpPr txBox="1"/>
          <p:nvPr/>
        </p:nvSpPr>
        <p:spPr>
          <a:xfrm>
            <a:off x="594360" y="5760720"/>
            <a:ext cx="79552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Some over-fitting: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4.17-point train–test gap, with 92,200 classical weights on 280 images.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Ten-Seed Evaluation</a:t>
            </a:r>
            <a:endParaRPr lang="en-US" sz="3000" dirty="0"/>
          </a:p>
        </p:txBody>
      </p:sp>
      <p:pic>
        <p:nvPicPr>
          <p:cNvPr id="4" name="Image 0" descr="Per-seed accuracy dis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74320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457200" y="411480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457200" y="4187952"/>
            <a:ext cx="2606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94.67%</a:t>
            </a:r>
            <a:endParaRPr lang="en-US" sz="3000" dirty="0"/>
          </a:p>
        </p:txBody>
      </p:sp>
      <p:sp>
        <p:nvSpPr>
          <p:cNvPr id="7" name="stat label"/>
          <p:cNvSpPr txBox="1"/>
          <p:nvPr/>
        </p:nvSpPr>
        <p:spPr>
          <a:xfrm>
            <a:off x="548640" y="4828032"/>
            <a:ext cx="242316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ORL mean · max 97.50 · std 1.68 · 120 test images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3268980" y="411480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3268980" y="4187952"/>
            <a:ext cx="2606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85.56%</a:t>
            </a:r>
            <a:endParaRPr lang="en-US" sz="3000" dirty="0"/>
          </a:p>
        </p:txBody>
      </p:sp>
      <p:sp>
        <p:nvSpPr>
          <p:cNvPr id="10" name="stat label"/>
          <p:cNvSpPr txBox="1"/>
          <p:nvPr/>
        </p:nvSpPr>
        <p:spPr>
          <a:xfrm>
            <a:off x="3360420" y="4828032"/>
            <a:ext cx="242316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Yale mean · max 91.11 · std 4.79 · 45 test images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6080760" y="411480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6080760" y="4187952"/>
            <a:ext cx="2606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+6.7 pts</a:t>
            </a:r>
            <a:endParaRPr lang="en-US" sz="3000" dirty="0"/>
          </a:p>
        </p:txBody>
      </p:sp>
      <p:sp>
        <p:nvSpPr>
          <p:cNvPr id="13" name="stat label"/>
          <p:cNvSpPr txBox="1"/>
          <p:nvPr/>
        </p:nvSpPr>
        <p:spPr>
          <a:xfrm>
            <a:off x="6172200" y="4828032"/>
            <a:ext cx="242316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Yale after centre crop, lr 1e-3, 60 epochs (from 78.89%)</a:t>
            </a:r>
            <a:endParaRPr lang="en-US" sz="1200" dirty="0"/>
          </a:p>
        </p:txBody>
      </p:sp>
      <p:sp>
        <p:nvSpPr>
          <p:cNvPr id="14" name="note strip"/>
          <p:cNvSpPr/>
          <p:nvPr/>
        </p:nvSpPr>
        <p:spPr>
          <a:xfrm>
            <a:off x="457200" y="56692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ote"/>
          <p:cNvSpPr txBox="1"/>
          <p:nvPr/>
        </p:nvSpPr>
        <p:spPr>
          <a:xfrm>
            <a:off x="594360" y="5669280"/>
            <a:ext cx="79552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Yale varies more: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test image moves accuracy by 2.22 points (45 images) vs 0.83 on ORL (120).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Yale: Tuning and Augmentation</a:t>
            </a:r>
            <a:endParaRPr lang="en-US" sz="3000" dirty="0"/>
          </a:p>
        </p:txBody>
      </p:sp>
      <p:pic>
        <p:nvPicPr>
          <p:cNvPr id="4" name="Image 0" descr="Yale tuning and augmentation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83464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457200" y="425196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457200" y="4325112"/>
            <a:ext cx="2606040" cy="6172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76.4%</a:t>
            </a:r>
            <a:endParaRPr lang="en-US" sz="3000" dirty="0"/>
          </a:p>
        </p:txBody>
      </p:sp>
      <p:sp>
        <p:nvSpPr>
          <p:cNvPr id="7" name="stat label"/>
          <p:cNvSpPr txBox="1"/>
          <p:nvPr/>
        </p:nvSpPr>
        <p:spPr>
          <a:xfrm>
            <a:off x="548640" y="4893869"/>
            <a:ext cx="2423160" cy="54315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best validation: square crop, lr 1e-3, 60 epochs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3268980" y="425196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3268980" y="4325112"/>
            <a:ext cx="2606040" cy="6172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77.8 → 68.1%</a:t>
            </a:r>
            <a:endParaRPr lang="en-US" sz="2400" dirty="0"/>
          </a:p>
        </p:txBody>
      </p:sp>
      <p:sp>
        <p:nvSpPr>
          <p:cNvPr id="10" name="stat label"/>
          <p:cNvSpPr txBox="1"/>
          <p:nvPr/>
        </p:nvSpPr>
        <p:spPr>
          <a:xfrm>
            <a:off x="3360420" y="4893869"/>
            <a:ext cx="2423160" cy="54315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validation accuracy as augmentation increases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6080760" y="425196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6080760" y="4325112"/>
            <a:ext cx="2606040" cy="6172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22 → 29 pts</a:t>
            </a:r>
            <a:endParaRPr lang="en-US" sz="2800" dirty="0"/>
          </a:p>
        </p:txBody>
      </p:sp>
      <p:sp>
        <p:nvSpPr>
          <p:cNvPr id="13" name="stat label"/>
          <p:cNvSpPr txBox="1"/>
          <p:nvPr/>
        </p:nvSpPr>
        <p:spPr>
          <a:xfrm>
            <a:off x="6172200" y="4893869"/>
            <a:ext cx="2423160" cy="54315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train–validation gap grows</a:t>
            </a:r>
            <a:endParaRPr lang="en-US" sz="1200" dirty="0"/>
          </a:p>
        </p:txBody>
      </p:sp>
      <p:sp>
        <p:nvSpPr>
          <p:cNvPr id="14" name="note strip"/>
          <p:cNvSpPr/>
          <p:nvPr/>
        </p:nvSpPr>
        <p:spPr>
          <a:xfrm>
            <a:off x="457200" y="56692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ote"/>
          <p:cNvSpPr txBox="1"/>
          <p:nvPr/>
        </p:nvSpPr>
        <p:spPr>
          <a:xfrm>
            <a:off x="594360" y="5669280"/>
            <a:ext cx="79552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Augmentation did not help: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still fits 120 training images almost perfectly. The cause of the over-fitting is not yet isolated.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the Errors Are</a:t>
            </a:r>
            <a:endParaRPr lang="en-US" sz="3000" dirty="0"/>
          </a:p>
        </p:txBody>
      </p:sp>
      <p:pic>
        <p:nvPicPr>
          <p:cNvPr id="4" name="Image 0" descr="ORL confusion mat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886200" cy="3513210"/>
          </a:xfrm>
          <a:prstGeom prst="rect">
            <a:avLst/>
          </a:prstGeom>
        </p:spPr>
      </p:pic>
      <p:pic>
        <p:nvPicPr>
          <p:cNvPr id="5" name="Image 1" descr="Yale confusion matr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3886200" cy="337930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02920" y="4709160"/>
            <a:ext cx="38862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ORL · 94.67% · 1,200 predictions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4754880" y="4709160"/>
            <a:ext cx="38862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Yale (tuning run) · 84.89% · 450 predictions</a:t>
            </a:r>
            <a:endParaRPr lang="en-US" sz="1300" dirty="0"/>
          </a:p>
        </p:txBody>
      </p:sp>
      <p:sp>
        <p:nvSpPr>
          <p:cNvPr id="8" name="insight"/>
          <p:cNvSpPr/>
          <p:nvPr/>
        </p:nvSpPr>
        <p:spPr>
          <a:xfrm>
            <a:off x="457200" y="516636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48640" y="5166360"/>
            <a:ext cx="38404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ORL: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strong diagonal; errors are scattered single confusions, no subject fails systematically.</a:t>
            </a:r>
            <a:endParaRPr lang="en-US" sz="1400" dirty="0"/>
          </a:p>
        </p:txBody>
      </p:sp>
      <p:sp>
        <p:nvSpPr>
          <p:cNvPr id="10" name="insight"/>
          <p:cNvSpPr/>
          <p:nvPr/>
        </p:nvSpPr>
        <p:spPr>
          <a:xfrm>
            <a:off x="4663440" y="516636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754880" y="5166360"/>
            <a:ext cx="38404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Yale: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off-diagonal confusion; subjects 7 and 8 are often read as 14, subject 5 as 13.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Cost of Training on Hardware</a:t>
            </a:r>
            <a:endParaRPr lang="en-US" sz="3000" dirty="0"/>
          </a:p>
        </p:txBody>
      </p:sp>
      <p:pic>
        <p:nvPicPr>
          <p:cNvPr id="4" name="Image 0" descr="Circuit cost and shot no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743200"/>
          </a:xfrm>
          <a:prstGeom prst="rect">
            <a:avLst/>
          </a:prstGeom>
        </p:spPr>
      </p:pic>
      <p:sp>
        <p:nvSpPr>
          <p:cNvPr id="5" name="formula card"/>
          <p:cNvSpPr/>
          <p:nvPr/>
        </p:nvSpPr>
        <p:spPr>
          <a:xfrm>
            <a:off x="457200" y="41148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4114800"/>
            <a:ext cx="4297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∂f/∂θ = ½ [ f(θ + π/2) − f(θ − π/2) ]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4937760" y="4114800"/>
            <a:ext cx="36576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two extra runs per parameter on hardware; simulator backprop gives the same gradient in one pass</a:t>
            </a:r>
            <a:endParaRPr lang="en-US" sz="1300" dirty="0"/>
          </a:p>
        </p:txBody>
      </p:sp>
      <p:sp>
        <p:nvSpPr>
          <p:cNvPr id="8" name="stat card"/>
          <p:cNvSpPr/>
          <p:nvPr/>
        </p:nvSpPr>
        <p:spPr>
          <a:xfrm>
            <a:off x="457200" y="516636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457200" y="523951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17</a:t>
            </a:r>
            <a:endParaRPr lang="en-US" sz="2600" dirty="0"/>
          </a:p>
        </p:txBody>
      </p:sp>
      <p:sp>
        <p:nvSpPr>
          <p:cNvPr id="10" name="stat label"/>
          <p:cNvSpPr txBox="1"/>
          <p:nvPr/>
        </p:nvSpPr>
        <p:spPr>
          <a:xfrm>
            <a:off x="548640" y="5784494"/>
            <a:ext cx="1737360" cy="5230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runs per patch (1 + 2×8)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2560320" y="516636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2560320" y="523951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9,792</a:t>
            </a:r>
            <a:endParaRPr lang="en-US" sz="2600" dirty="0"/>
          </a:p>
        </p:txBody>
      </p:sp>
      <p:sp>
        <p:nvSpPr>
          <p:cNvPr id="13" name="stat label"/>
          <p:cNvSpPr txBox="1"/>
          <p:nvPr/>
        </p:nvSpPr>
        <p:spPr>
          <a:xfrm>
            <a:off x="2651760" y="5784494"/>
            <a:ext cx="1737360" cy="5230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runs per image per step</a:t>
            </a:r>
            <a:endParaRPr lang="en-US" sz="1200" dirty="0"/>
          </a:p>
        </p:txBody>
      </p:sp>
      <p:sp>
        <p:nvSpPr>
          <p:cNvPr id="14" name="stat card"/>
          <p:cNvSpPr/>
          <p:nvPr/>
        </p:nvSpPr>
        <p:spPr>
          <a:xfrm>
            <a:off x="4663440" y="516636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at value"/>
          <p:cNvSpPr txBox="1"/>
          <p:nvPr/>
        </p:nvSpPr>
        <p:spPr>
          <a:xfrm>
            <a:off x="4663440" y="523951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8.2×10⁷</a:t>
            </a:r>
            <a:endParaRPr lang="en-US" sz="2600" dirty="0"/>
          </a:p>
        </p:txBody>
      </p:sp>
      <p:sp>
        <p:nvSpPr>
          <p:cNvPr id="16" name="stat label"/>
          <p:cNvSpPr txBox="1"/>
          <p:nvPr/>
        </p:nvSpPr>
        <p:spPr>
          <a:xfrm>
            <a:off x="4754880" y="5784494"/>
            <a:ext cx="1737360" cy="5230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runs for one ORL training run</a:t>
            </a:r>
            <a:endParaRPr lang="en-US" sz="1200" dirty="0"/>
          </a:p>
        </p:txBody>
      </p:sp>
      <p:sp>
        <p:nvSpPr>
          <p:cNvPr id="17" name="stat card"/>
          <p:cNvSpPr/>
          <p:nvPr/>
        </p:nvSpPr>
        <p:spPr>
          <a:xfrm>
            <a:off x="6766560" y="516636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at value"/>
          <p:cNvSpPr txBox="1"/>
          <p:nvPr/>
        </p:nvSpPr>
        <p:spPr>
          <a:xfrm>
            <a:off x="6766560" y="523951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2.2×10⁻¹⁵</a:t>
            </a:r>
            <a:endParaRPr lang="en-US" sz="2200" dirty="0"/>
          </a:p>
        </p:txBody>
      </p:sp>
      <p:sp>
        <p:nvSpPr>
          <p:cNvPr id="19" name="stat label"/>
          <p:cNvSpPr txBox="1"/>
          <p:nvPr/>
        </p:nvSpPr>
        <p:spPr>
          <a:xfrm>
            <a:off x="6858000" y="5784494"/>
            <a:ext cx="1737360" cy="5230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backprop vs shift gradient mismatch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Conclusion, Limitations &amp; Future Scope</a:t>
            </a:r>
            <a:endParaRPr lang="en-US" sz="3000" dirty="0"/>
          </a:p>
        </p:txBody>
      </p:sp>
      <p:sp>
        <p:nvSpPr>
          <p:cNvPr id="4" name="column"/>
          <p:cNvSpPr/>
          <p:nvPr/>
        </p:nvSpPr>
        <p:spPr>
          <a:xfrm>
            <a:off x="457200" y="1188720"/>
            <a:ext cx="2651760" cy="3749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lumn"/>
          <p:cNvSpPr/>
          <p:nvPr/>
        </p:nvSpPr>
        <p:spPr>
          <a:xfrm>
            <a:off x="3246120" y="1188720"/>
            <a:ext cx="2651760" cy="3749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olumn"/>
          <p:cNvSpPr/>
          <p:nvPr/>
        </p:nvSpPr>
        <p:spPr>
          <a:xfrm>
            <a:off x="6035040" y="1188720"/>
            <a:ext cx="2651760" cy="3749040"/>
          </a:xfrm>
          <a:prstGeom prst="roundRect">
            <a:avLst>
              <a:gd name="adj" fmla="val 275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Achieved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783080"/>
            <a:ext cx="246888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MG-QCNN built in PennyLane + PyTorch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Closed-form filter verified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ORL 94.67%, Yale 85.56%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Min–max beats Gaussian on all seeds</a:t>
            </a:r>
            <a:endParaRPr lang="en-US" sz="1700" dirty="0"/>
          </a:p>
        </p:txBody>
      </p:sp>
      <p:pic>
        <p:nvPicPr>
          <p:cNvPr id="10" name="Image 1" descr="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9844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84048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3337560" y="1783080"/>
            <a:ext cx="246888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Noise-free simulation, not hardware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Yale over-fits: 100% train vs about 85% test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ablation or noise study yet</a:t>
            </a:r>
            <a:endParaRPr lang="en-US" sz="1700" dirty="0"/>
          </a:p>
        </p:txBody>
      </p:sp>
      <p:pic>
        <p:nvPicPr>
          <p:cNvPr id="13" name="Image 2" descr="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98448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2940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126480" y="178308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a feature-extraction stage before the quantum layer to cut the patches needing circuit runs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80760" y="2788920"/>
          <a:ext cx="25603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summary band"/>
          <p:cNvSpPr/>
          <p:nvPr/>
        </p:nvSpPr>
        <p:spPr>
          <a:xfrm>
            <a:off x="457200" y="512064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8 quantum parameters · ORL 94.67% · Yale 85.56%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Fewer patches mean 4× to 16× fewer circuit runs and make real parameter-shift training practical.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5120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[1] M. Wang, W. Deng, “Deep face recognition: A survey,” Neurocomputing, 2021.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[2] N. C. Thompson et al., “The computational limits of deep learning,” arXiv:2007.05558, 2020.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[3] J. Preskill, “Quantum computing in the NISQ era and beyond,” Quantum, 2018.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[4] Y. Zhu et al., “Quantum face recognition with multigate quantum convolutional neural network,” IEEE Trans. Artif. Intell., 2024.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[5] Y. LeCun et al., “Backpropagation applied to handwritten zip code recognition,” Neural Comput., 1989.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[6] Y. Taigman et al., “DeepFace,” CVPR, 2014.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[7] M. Cerezo et al., “Variational quantum algorithms,” Nat. Rev. Phys., 2021.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[8] J. R. McClean et al., “Barren plateaus in quantum neural network training landscapes,” Nat. Commun., 2018.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[9] Z. Holmes et al., “Connecting ansatz expressibility to gradient magnitudes and barren plateaus,” PRX Quantum, 2022.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[10] I. Cong, S. Choi, M. D. Lukin, “Quantum convolutional neural networks,” Nat. Phys., 2019.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[11] M. Henderson et al., “Quanvolutional neural networks,” Quantum Mach. Intell., 2020.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[12] D. Mattern et al., “Variational quanvolutional neural networks with enhanced image encoding,” arXiv:2106.07327, 2021.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4023360" cy="5120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[13] S. Oh, J. Choi, J. Kim, “A tutorial on quantum convolutional neural networks (QCNN),” ICTC, 2020.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[14] S. Y.-C. Chen et al., “Quantum convolutional neural networks for high energy physics data analysis,” Phys. Rev. Res., 2022.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[15] A. Senokosov et al., “Quantum machine learning for image classification,” arXiv:2304.09224, 2023.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[16] T. Hur, L. Kim, D. K. Park, “Quantum convolutional neural network for classical data classification,” Quantum Mach. Intell., 2022.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[17] F. S. Samaria, A. C. Harter, “Parameterisation of a stochastic model for human face identification,” WACV, 1994.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[18] A. S. Georghiades et al., “From few to many,” FG, 2000.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[19] D. P. Kingma, J. Ba, “Adam: A method for stochastic optimization,” ICLR, 2015.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[20] V. Bergholm et al., “PennyLane,” arXiv:1811.04968, 2018.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[21] A. Paszke et al., “PyTorch,” NeurIPS, 2019.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[22] K. Mitarai et al., “Quantum circuit learning,” Phys. Rev. A, 2018.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[23] M. Schuld et al., “Evaluating analytic gradients on quantum hardware,” Phys. Rev. A, 2019.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55A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CNN">
  <a:themeElements>
    <a:clrScheme name="QCNN">
      <a:dk1>
        <a:srgbClr val="212121"/>
      </a:dk1>
      <a:lt1>
        <a:srgbClr val="FFFFFF"/>
      </a:lt1>
      <a:dk2>
        <a:srgbClr val="455A64"/>
      </a:dk2>
      <a:lt2>
        <a:srgbClr val="ECEFF1"/>
      </a:lt2>
      <a:accent1>
        <a:srgbClr val="C62828"/>
      </a:accent1>
      <a:accent2>
        <a:srgbClr val="FDECEA"/>
      </a:accent2>
      <a:accent3>
        <a:srgbClr val="90A4AE"/>
      </a:accent3>
      <a:accent4>
        <a:srgbClr val="8E1B1B"/>
      </a:accent4>
      <a:accent5>
        <a:srgbClr val="2E7D32"/>
      </a:accent5>
      <a:accent6>
        <a:srgbClr val="CFD8DC"/>
      </a:accent6>
      <a:hlink>
        <a:srgbClr val="C62828"/>
      </a:hlink>
      <a:folHlink>
        <a:srgbClr val="455A64"/>
      </a:folHlink>
    </a:clrScheme>
    <a:fontScheme name="QCN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Face Recognition with MG-QCNN – Mid-Semester</dc:title>
  <dc:subject>PptxGenJS Presentation</dc:subject>
  <dc:creator>Subrata Lodh, Yesh Agarwal</dc:creator>
  <cp:lastModifiedBy>Subrata Lodh, Yesh Agarwal</cp:lastModifiedBy>
  <cp:revision>1</cp:revision>
  <dcterms:created xsi:type="dcterms:W3CDTF">2026-10-06T16:37:47Z</dcterms:created>
  <dcterms:modified xsi:type="dcterms:W3CDTF">2026-10-06T16:37:47Z</dcterms:modified>
</cp:coreProperties>
</file>