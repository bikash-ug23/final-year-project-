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Qubits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5A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Available (IBM)</c:v>
                  </c:pt>
                  <c:pt idx="1">
                    <c:v>Needed: 1 per pixel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2304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55A64"/>
                </a:solidFill>
                <a:latin typeface="+mn-lt"/>
              </a:rPr>
              <a:t>Patches per image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Patches per image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Now</c:v>
                  </c:pt>
                  <c:pt idx="1">
                    <c:v>÷4</c:v>
                  </c:pt>
                  <c:pt idx="2">
                    <c:v>÷16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576</c:v>
                </c:pt>
                <c:pt idx="1">
                  <c:v>144</c:v>
                </c:pt>
                <c:pt idx="2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face recognition is everywhere and deep CNNs are costly. Quantum ML is a promising alternative, but today's devices have only a handful of qubits, so a face image cannot be loaded pixel by pixel. Problem: recognise faces with a quantum model that needs very few qubits.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objectives: study, implement, evaluate,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strands; the MG-QCNN combines fixed circuit, trainable rotations, entanglement, all-qubit measurement and a sliding 2x2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components. Each takes the previous output as input. Quantum part: circuit and measurement with 8 shared parameters. Classical part: pre-processing, patch extraction,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Grayscale, resize to 48x48, per-image min-max to [-1,1], times pi. Yale also gets a centre square crop then an 85% centre crop. Min-max beat Gaussian z-score on all 10 ORL seeds (94.67 vs 91.50). Figure is illustrative with synthetic gray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2x2 window slides with stride 2: 24 x 24 = 576 non-overlapping patches, each flattened row-major into (x0, x1, x2, x3).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 each pixel as an RY rotation on its own qubit, apply trainable RZ and RX rotations (8 parameters, shared by all patches), then entangle neighbours with a CNOT chain. 15 gates, depth 6, fixed (not random).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Pauli-Z on every qubit. Closed form: s_i = cos(th_2i+1) cos(x_i) + sin(th_2i+1) sin(th_2i) sin(x_i); f_k = s_0 ... s_k. Verified against the full simulation to 7e-16. At test time 1000 shots give std &lt;= 0.032.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576 patches x 4 values = 2,304 features are flattened into a linear layer with softmax. Trained with cross-entropy and Adam (lr 1e-3). Parameters: 8 quantum + 2,304x40+40 = 92,200 classical on ORL; 8 + 34,575 on Yale.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needs the parameter-shift rule: 17 runs per patch, 9,792 per image per step, 8.2e7 for one ORL run. Simulator backpropagation gives the same gradient (mismatch 2.2e-15) in one pass, so it is used for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random 70:30 splits, 1000-shot test: mean 94.667, max 97.5, std 1.675. Seed 0: loss 3.03 -&gt; 0.0031, train accuracy 100% from epoch 3, test 95.83% from epoch 14. Min-max beats Gaussian on all 10 seeds (+3.17).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Yale (15 subjects, 120 train / 45 test): mean 85.556, max 91.111, std 4.792, using a centre crop (85%), lr 1e-3, 60 epochs selected on a validation split. Augmentation lowered validation accuracy 77.8 -&gt; 68.1 and widened the train-validation gap 22 -&gt; 29 points. One test image = 2.22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Achieved: pipeline, closed form verified, ORL 94.67%, Yale 85.56%. Limitations: noise-free simulation, Yale over-fitting, no ablation/noise study yet. Future: feature-extraction stage before the quantum layer so far fewer patches need circuit runs and real parameter-shift training becomes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T Silcha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14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Quantum Face Recognition with Multi-Gate Quantum Convolutional Neural Network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B. Tech. Project Mid-Semester Evaluation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Subrata Lodh (2314051)  |  Yesh Agarwal (2314080)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8046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Supervisor: Dr. Banani Basu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32120"/>
            <a:ext cx="8046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Department of Electronics and Communication Engineering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8046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National Institute of Technology Silchar, Assam (India) - 788010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reason card"/>
          <p:cNvSpPr/>
          <p:nvPr/>
        </p:nvSpPr>
        <p:spPr>
          <a:xfrm>
            <a:off x="457200" y="1188720"/>
            <a:ext cx="44805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disc"/>
          <p:cNvSpPr/>
          <p:nvPr/>
        </p:nvSpPr>
        <p:spPr>
          <a:xfrm>
            <a:off x="566928" y="1371600"/>
            <a:ext cx="530352" cy="53035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Why it matt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99616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234440"/>
            <a:ext cx="36118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536192"/>
            <a:ext cx="3611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Face recognition is used in banking, security and government services</a:t>
            </a:r>
            <a:endParaRPr lang="en-US" sz="1250" dirty="0"/>
          </a:p>
        </p:txBody>
      </p:sp>
      <p:sp>
        <p:nvSpPr>
          <p:cNvPr id="9" name="reason card"/>
          <p:cNvSpPr/>
          <p:nvPr/>
        </p:nvSpPr>
        <p:spPr>
          <a:xfrm>
            <a:off x="457200" y="2194560"/>
            <a:ext cx="44805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disc"/>
          <p:cNvSpPr/>
          <p:nvPr/>
        </p:nvSpPr>
        <p:spPr>
          <a:xfrm>
            <a:off x="566928" y="2377440"/>
            <a:ext cx="530352" cy="53035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Why a new approa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054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240280"/>
            <a:ext cx="36118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a new approach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542032"/>
            <a:ext cx="3611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Deep CNNs are near-human (DeepFace: 97.35% on LFW) but need ever more compute</a:t>
            </a:r>
            <a:endParaRPr lang="en-US" sz="1250" dirty="0"/>
          </a:p>
        </p:txBody>
      </p:sp>
      <p:sp>
        <p:nvSpPr>
          <p:cNvPr id="14" name="reason card"/>
          <p:cNvSpPr/>
          <p:nvPr/>
        </p:nvSpPr>
        <p:spPr>
          <a:xfrm>
            <a:off x="457200" y="3200400"/>
            <a:ext cx="44805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disc"/>
          <p:cNvSpPr/>
          <p:nvPr/>
        </p:nvSpPr>
        <p:spPr>
          <a:xfrm>
            <a:off x="566928" y="33832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Why quantu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112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246120"/>
            <a:ext cx="36118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quantum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3547872"/>
            <a:ext cx="3611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Quantum machine learning promises more efficient learning with far fewer trainable resources</a:t>
            </a:r>
            <a:endParaRPr lang="en-US" sz="1250" dirty="0"/>
          </a:p>
        </p:txBody>
      </p:sp>
      <p:sp>
        <p:nvSpPr>
          <p:cNvPr id="19" name="chart card"/>
          <p:cNvSpPr/>
          <p:nvPr/>
        </p:nvSpPr>
        <p:spPr>
          <a:xfrm>
            <a:off x="5120640" y="1188720"/>
            <a:ext cx="3566160" cy="2907792"/>
          </a:xfrm>
          <a:prstGeom prst="roundRect">
            <a:avLst>
              <a:gd name="adj" fmla="val 25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catch: qubits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166360" y="160020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problem statement"/>
          <p:cNvSpPr/>
          <p:nvPr/>
        </p:nvSpPr>
        <p:spPr>
          <a:xfrm>
            <a:off x="457200" y="4297680"/>
            <a:ext cx="8229600" cy="2011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4800600"/>
            <a:ext cx="7863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Today’s noisy quantum devices offer only 5–27 reliable qubits, but a 48×48 face image has 2,304 pixels. How can faces be recognised with a quantum model that needs only a handful of qubits, and how well does it work?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4" name="objective card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disc"/>
          <p:cNvSpPr/>
          <p:nvPr/>
        </p:nvSpPr>
        <p:spPr>
          <a:xfrm>
            <a:off x="731520" y="1600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tudy quantum M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466344" cy="4663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Study quantum ML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Angle encoding, variational circuits, quanvolution</a:t>
            </a:r>
            <a:endParaRPr lang="en-US" sz="1400" dirty="0"/>
          </a:p>
        </p:txBody>
      </p:sp>
      <p:sp>
        <p:nvSpPr>
          <p:cNvPr id="10" name="objective card"/>
          <p:cNvSpPr/>
          <p:nvPr/>
        </p:nvSpPr>
        <p:spPr>
          <a:xfrm>
            <a:off x="4663440" y="12801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disc"/>
          <p:cNvSpPr/>
          <p:nvPr/>
        </p:nvSpPr>
        <p:spPr>
          <a:xfrm>
            <a:off x="4937760" y="1600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Implement the MG-QCN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01368"/>
            <a:ext cx="466344" cy="4663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638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Implement the MG-QCNN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PennyLane + PyTorch, with an analytical model of the filter</a:t>
            </a:r>
            <a:endParaRPr lang="en-US" sz="1400" dirty="0"/>
          </a:p>
        </p:txBody>
      </p:sp>
      <p:sp>
        <p:nvSpPr>
          <p:cNvPr id="16" name="objective card"/>
          <p:cNvSpPr/>
          <p:nvPr/>
        </p:nvSpPr>
        <p:spPr>
          <a:xfrm>
            <a:off x="457200" y="37947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disc"/>
          <p:cNvSpPr/>
          <p:nvPr/>
        </p:nvSpPr>
        <p:spPr>
          <a:xfrm>
            <a:off x="731520" y="4114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Evaluate on ORL and Ya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15968"/>
            <a:ext cx="466344" cy="4663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65760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3</a:t>
            </a:r>
            <a:endParaRPr lang="en-US" sz="32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" y="50749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Evaluate on ORL and Yale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54864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random 70:30 splits, 1000 measurement shots</a:t>
            </a:r>
            <a:endParaRPr lang="en-US" sz="1400" dirty="0"/>
          </a:p>
        </p:txBody>
      </p:sp>
      <p:sp>
        <p:nvSpPr>
          <p:cNvPr id="22" name="objective card"/>
          <p:cNvSpPr/>
          <p:nvPr/>
        </p:nvSpPr>
        <p:spPr>
          <a:xfrm>
            <a:off x="4663440" y="37947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disc"/>
          <p:cNvSpPr/>
          <p:nvPr/>
        </p:nvSpPr>
        <p:spPr>
          <a:xfrm>
            <a:off x="4937760" y="4114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Analyse the desig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4315968"/>
            <a:ext cx="466344" cy="4663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6384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4</a:t>
            </a:r>
            <a:endParaRPr lang="en-US" sz="3200" dirty="0"/>
          </a:p>
        </p:txBody>
      </p:sp>
      <p:sp>
        <p:nvSpPr>
          <p:cNvPr id="26" name="Text 19"/>
          <p:cNvSpPr txBox="1"/>
          <p:nvPr/>
        </p:nvSpPr>
        <p:spPr>
          <a:xfrm>
            <a:off x="4937760" y="50749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Analyse the design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937760" y="54864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Gates, entanglement, filter size, shot noise, hardware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Review</a:t>
            </a:r>
            <a:endParaRPr lang="en-US" sz="3000" dirty="0"/>
          </a:p>
        </p:txBody>
      </p:sp>
      <p:sp>
        <p:nvSpPr>
          <p:cNvPr id="4" name="column card"/>
          <p:cNvSpPr/>
          <p:nvPr/>
        </p:nvSpPr>
        <p:spPr>
          <a:xfrm>
            <a:off x="457200" y="12344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Classical face recognition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Gabor + KNN/SVM gave way to deep CNNs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accuracy, heavy computation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Compute demand outgrows hardware</a:t>
            </a:r>
            <a:endParaRPr lang="en-US" sz="1500" dirty="0"/>
          </a:p>
        </p:txBody>
      </p:sp>
      <p:sp>
        <p:nvSpPr>
          <p:cNvPr id="7" name="column card"/>
          <p:cNvSpPr/>
          <p:nvPr/>
        </p:nvSpPr>
        <p:spPr>
          <a:xfrm>
            <a:off x="3246120" y="12344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Variational circuits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Rotation angles act as weights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Trained by gradient descent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Barren plateaus favour small, fixed circuits</a:t>
            </a:r>
            <a:endParaRPr lang="en-US" sz="1500" dirty="0"/>
          </a:p>
        </p:txBody>
      </p:sp>
      <p:sp>
        <p:nvSpPr>
          <p:cNvPr id="10" name="column card"/>
          <p:cNvSpPr/>
          <p:nvPr/>
        </p:nvSpPr>
        <p:spPr>
          <a:xfrm>
            <a:off x="6035040" y="12344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Quantum convolution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Henderson: random, fixed filter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Mattern: trainable but random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Oh: fixed, one measured qubit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MG-QCNN: fixed, trainable, all 4 qubits measured</a:t>
            </a:r>
            <a:endParaRPr lang="en-US" sz="1500" dirty="0"/>
          </a:p>
        </p:txBody>
      </p:sp>
      <p:sp>
        <p:nvSpPr>
          <p:cNvPr id="13" name="note strip"/>
          <p:cNvSpPr/>
          <p:nvPr/>
        </p:nvSpPr>
        <p:spPr>
          <a:xfrm>
            <a:off x="457200" y="502920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ote"/>
          <p:cNvSpPr txBox="1"/>
          <p:nvPr/>
        </p:nvSpPr>
        <p:spPr>
          <a:xfrm>
            <a:off x="594360" y="5029200"/>
            <a:ext cx="79552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Research gap: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small datasets, noise-free simulation and no hardware test in the reference work. We add an independent implementation, an analytical model of the filter and a cost and noise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Methodology: Overview Architecture</a:t>
            </a:r>
            <a:endParaRPr lang="en-US" sz="3000" dirty="0"/>
          </a:p>
        </p:txBody>
      </p:sp>
      <p:sp>
        <p:nvSpPr>
          <p:cNvPr id="4" name="component"/>
          <p:cNvSpPr/>
          <p:nvPr/>
        </p:nvSpPr>
        <p:spPr>
          <a:xfrm>
            <a:off x="457200" y="1234440"/>
            <a:ext cx="1417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Pre-process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1952" y="1536192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in"/>
          <p:cNvSpPr/>
          <p:nvPr/>
        </p:nvSpPr>
        <p:spPr>
          <a:xfrm>
            <a:off x="457200" y="228600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raw image</a:t>
            </a:r>
            <a:endParaRPr lang="en-US" sz="1200" dirty="0"/>
          </a:p>
        </p:txBody>
      </p:sp>
      <p:sp>
        <p:nvSpPr>
          <p:cNvPr id="9" name="out"/>
          <p:cNvSpPr/>
          <p:nvPr/>
        </p:nvSpPr>
        <p:spPr>
          <a:xfrm>
            <a:off x="457200" y="292608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" y="292608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48×48 angles</a:t>
            </a:r>
            <a:endParaRPr lang="en-US" sz="1200" dirty="0"/>
          </a:p>
        </p:txBody>
      </p:sp>
      <p:sp>
        <p:nvSpPr>
          <p:cNvPr id="11" name="component"/>
          <p:cNvSpPr/>
          <p:nvPr/>
        </p:nvSpPr>
        <p:spPr>
          <a:xfrm>
            <a:off x="2148840" y="1234440"/>
            <a:ext cx="1417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48840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Patch extraction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3593592" y="1536192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in"/>
          <p:cNvSpPr/>
          <p:nvPr/>
        </p:nvSpPr>
        <p:spPr>
          <a:xfrm>
            <a:off x="2148840" y="228600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7627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48×48 angles</a:t>
            </a:r>
            <a:endParaRPr lang="en-US" sz="1200" dirty="0"/>
          </a:p>
        </p:txBody>
      </p:sp>
      <p:sp>
        <p:nvSpPr>
          <p:cNvPr id="16" name="out"/>
          <p:cNvSpPr/>
          <p:nvPr/>
        </p:nvSpPr>
        <p:spPr>
          <a:xfrm>
            <a:off x="2148840" y="292608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76272" y="292608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576 × 4 values</a:t>
            </a:r>
            <a:endParaRPr lang="en-US" sz="1200" dirty="0"/>
          </a:p>
        </p:txBody>
      </p:sp>
      <p:sp>
        <p:nvSpPr>
          <p:cNvPr id="18" name="component"/>
          <p:cNvSpPr/>
          <p:nvPr/>
        </p:nvSpPr>
        <p:spPr>
          <a:xfrm>
            <a:off x="3840480" y="1234440"/>
            <a:ext cx="14173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0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Quantum circuit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5285232" y="1536192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in"/>
          <p:cNvSpPr/>
          <p:nvPr/>
        </p:nvSpPr>
        <p:spPr>
          <a:xfrm>
            <a:off x="3840480" y="228600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6791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angles</a:t>
            </a:r>
            <a:endParaRPr lang="en-US" sz="1200" dirty="0"/>
          </a:p>
        </p:txBody>
      </p:sp>
      <p:sp>
        <p:nvSpPr>
          <p:cNvPr id="23" name="out"/>
          <p:cNvSpPr/>
          <p:nvPr/>
        </p:nvSpPr>
        <p:spPr>
          <a:xfrm>
            <a:off x="3840480" y="292608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67912" y="292608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4-qubit state</a:t>
            </a:r>
            <a:endParaRPr lang="en-US" sz="1200" dirty="0"/>
          </a:p>
        </p:txBody>
      </p:sp>
      <p:sp>
        <p:nvSpPr>
          <p:cNvPr id="25" name="component"/>
          <p:cNvSpPr/>
          <p:nvPr/>
        </p:nvSpPr>
        <p:spPr>
          <a:xfrm>
            <a:off x="5532120" y="1234440"/>
            <a:ext cx="14173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32120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 Measurement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6976872" y="1536192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in"/>
          <p:cNvSpPr/>
          <p:nvPr/>
        </p:nvSpPr>
        <p:spPr>
          <a:xfrm>
            <a:off x="5532120" y="228600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5955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4-qubit state</a:t>
            </a:r>
            <a:endParaRPr lang="en-US" sz="1200" dirty="0"/>
          </a:p>
        </p:txBody>
      </p:sp>
      <p:sp>
        <p:nvSpPr>
          <p:cNvPr id="30" name="out"/>
          <p:cNvSpPr/>
          <p:nvPr/>
        </p:nvSpPr>
        <p:spPr>
          <a:xfrm>
            <a:off x="5532120" y="292608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59552" y="292608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values f₀…f₃</a:t>
            </a:r>
            <a:endParaRPr lang="en-US" sz="1200" dirty="0"/>
          </a:p>
        </p:txBody>
      </p:sp>
      <p:sp>
        <p:nvSpPr>
          <p:cNvPr id="32" name="component"/>
          <p:cNvSpPr/>
          <p:nvPr/>
        </p:nvSpPr>
        <p:spPr>
          <a:xfrm>
            <a:off x="7223760" y="1234440"/>
            <a:ext cx="1417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23760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 Classifier</a:t>
            </a:r>
            <a:endParaRPr lang="en-US" sz="1400" dirty="0"/>
          </a:p>
        </p:txBody>
      </p:sp>
      <p:sp>
        <p:nvSpPr>
          <p:cNvPr id="34" name="in"/>
          <p:cNvSpPr/>
          <p:nvPr/>
        </p:nvSpPr>
        <p:spPr>
          <a:xfrm>
            <a:off x="7223760" y="228600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5119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24×24×4 = 2,304</a:t>
            </a:r>
            <a:endParaRPr lang="en-US" sz="1200" dirty="0"/>
          </a:p>
        </p:txBody>
      </p:sp>
      <p:sp>
        <p:nvSpPr>
          <p:cNvPr id="36" name="out"/>
          <p:cNvSpPr/>
          <p:nvPr/>
        </p:nvSpPr>
        <p:spPr>
          <a:xfrm>
            <a:off x="7223760" y="2926080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251192" y="292608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 / 15 probabilities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84048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quantum part: 4 qubits, 8 trainable parameters shared by all patches</a:t>
            </a:r>
            <a:endParaRPr lang="en-US" sz="1200" dirty="0"/>
          </a:p>
        </p:txBody>
      </p:sp>
      <p:sp>
        <p:nvSpPr>
          <p:cNvPr id="39" name="info"/>
          <p:cNvSpPr/>
          <p:nvPr/>
        </p:nvSpPr>
        <p:spPr>
          <a:xfrm>
            <a:off x="457200" y="42519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Tools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663440"/>
            <a:ext cx="2468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PennyLane (quantum circuit), PyTorch (training); Kaggle notebooks</a:t>
            </a:r>
            <a:endParaRPr lang="en-US" sz="1350" dirty="0"/>
          </a:p>
        </p:txBody>
      </p:sp>
      <p:sp>
        <p:nvSpPr>
          <p:cNvPr id="42" name="info"/>
          <p:cNvSpPr/>
          <p:nvPr/>
        </p:nvSpPr>
        <p:spPr>
          <a:xfrm>
            <a:off x="3246120" y="42519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33756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Datasets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3337560" y="4663440"/>
            <a:ext cx="2468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ORL: 400 images, 40 subjects · Yale: 165 images, 15 subjects</a:t>
            </a:r>
            <a:endParaRPr lang="en-US" sz="1350" dirty="0"/>
          </a:p>
        </p:txBody>
      </p:sp>
      <p:sp>
        <p:nvSpPr>
          <p:cNvPr id="45" name="info"/>
          <p:cNvSpPr/>
          <p:nvPr/>
        </p:nvSpPr>
        <p:spPr>
          <a:xfrm>
            <a:off x="6035040" y="42519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2648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6126480" y="4663440"/>
            <a:ext cx="2468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10 random 70:30 splits, 1000 measurement shots</a:t>
            </a:r>
            <a:endParaRPr lang="en-US" sz="1350" dirty="0"/>
          </a:p>
        </p:txBody>
      </p:sp>
      <p:sp>
        <p:nvSpPr>
          <p:cNvPr id="48" name="note strip"/>
          <p:cNvSpPr/>
          <p:nvPr/>
        </p:nvSpPr>
        <p:spPr>
          <a:xfrm>
            <a:off x="457200" y="57607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note"/>
          <p:cNvSpPr txBox="1"/>
          <p:nvPr/>
        </p:nvSpPr>
        <p:spPr>
          <a:xfrm>
            <a:off x="594360" y="5760720"/>
            <a:ext cx="7955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Next: one slide per component, each with its input and output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 1: Data Pre-processing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Raw gray image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ORL 92×112 · Yale 320×243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mponent card"/>
          <p:cNvSpPr/>
          <p:nvPr/>
        </p:nvSpPr>
        <p:spPr>
          <a:xfrm>
            <a:off x="3520440" y="1143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Pre-process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grayscale · resize · scale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56692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output card"/>
          <p:cNvSpPr/>
          <p:nvPr/>
        </p:nvSpPr>
        <p:spPr>
          <a:xfrm>
            <a:off x="60350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48×48 angle matrix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pixel in [−π, π]</a:t>
            </a:r>
            <a:endParaRPr lang="en-US" sz="1100" dirty="0"/>
          </a:p>
        </p:txBody>
      </p:sp>
      <p:pic>
        <p:nvPicPr>
          <p:cNvPr id="17" name="Image 0" descr="Illustrative pixel scaling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8229600" cy="2468880"/>
          </a:xfrm>
          <a:prstGeom prst="rect">
            <a:avLst/>
          </a:prstGeom>
        </p:spPr>
      </p:pic>
      <p:sp>
        <p:nvSpPr>
          <p:cNvPr id="18" name="stat card"/>
          <p:cNvSpPr/>
          <p:nvPr/>
        </p:nvSpPr>
        <p:spPr>
          <a:xfrm>
            <a:off x="45720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 value"/>
          <p:cNvSpPr txBox="1"/>
          <p:nvPr/>
        </p:nvSpPr>
        <p:spPr>
          <a:xfrm>
            <a:off x="457200" y="4828032"/>
            <a:ext cx="2606040" cy="5257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94.67%</a:t>
            </a:r>
            <a:endParaRPr lang="en-US" sz="2800" dirty="0"/>
          </a:p>
        </p:txBody>
      </p:sp>
      <p:sp>
        <p:nvSpPr>
          <p:cNvPr id="20" name="stat label"/>
          <p:cNvSpPr txBox="1"/>
          <p:nvPr/>
        </p:nvSpPr>
        <p:spPr>
          <a:xfrm>
            <a:off x="548640" y="5301691"/>
            <a:ext cx="2423160" cy="46268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ORL accuracy with min–max scaling</a:t>
            </a:r>
            <a:endParaRPr lang="en-US" sz="1200" dirty="0"/>
          </a:p>
        </p:txBody>
      </p:sp>
      <p:sp>
        <p:nvSpPr>
          <p:cNvPr id="21" name="stat card"/>
          <p:cNvSpPr/>
          <p:nvPr/>
        </p:nvSpPr>
        <p:spPr>
          <a:xfrm>
            <a:off x="326898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at value"/>
          <p:cNvSpPr txBox="1"/>
          <p:nvPr/>
        </p:nvSpPr>
        <p:spPr>
          <a:xfrm>
            <a:off x="3268980" y="4828032"/>
            <a:ext cx="2606040" cy="5257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91.50%</a:t>
            </a:r>
            <a:endParaRPr lang="en-US" sz="2800" dirty="0"/>
          </a:p>
        </p:txBody>
      </p:sp>
      <p:sp>
        <p:nvSpPr>
          <p:cNvPr id="23" name="stat label"/>
          <p:cNvSpPr txBox="1"/>
          <p:nvPr/>
        </p:nvSpPr>
        <p:spPr>
          <a:xfrm>
            <a:off x="3360420" y="5301691"/>
            <a:ext cx="2423160" cy="46268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ORL accuracy with Gaussian z-score</a:t>
            </a:r>
            <a:endParaRPr lang="en-US" sz="1200" dirty="0"/>
          </a:p>
        </p:txBody>
      </p:sp>
      <p:sp>
        <p:nvSpPr>
          <p:cNvPr id="24" name="stat card"/>
          <p:cNvSpPr/>
          <p:nvPr/>
        </p:nvSpPr>
        <p:spPr>
          <a:xfrm>
            <a:off x="608076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tat value"/>
          <p:cNvSpPr txBox="1"/>
          <p:nvPr/>
        </p:nvSpPr>
        <p:spPr>
          <a:xfrm>
            <a:off x="6080760" y="4828032"/>
            <a:ext cx="2606040" cy="5257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 / 10</a:t>
            </a:r>
            <a:endParaRPr lang="en-US" sz="2800" dirty="0"/>
          </a:p>
        </p:txBody>
      </p:sp>
      <p:sp>
        <p:nvSpPr>
          <p:cNvPr id="26" name="stat label"/>
          <p:cNvSpPr txBox="1"/>
          <p:nvPr/>
        </p:nvSpPr>
        <p:spPr>
          <a:xfrm>
            <a:off x="6172200" y="5301691"/>
            <a:ext cx="2423160" cy="46268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seeds won by min–max (+3.17 pts)</a:t>
            </a:r>
            <a:endParaRPr lang="en-US" sz="1200" dirty="0"/>
          </a:p>
        </p:txBody>
      </p:sp>
      <p:sp>
        <p:nvSpPr>
          <p:cNvPr id="27" name="note strip"/>
          <p:cNvSpPr/>
          <p:nvPr/>
        </p:nvSpPr>
        <p:spPr>
          <a:xfrm>
            <a:off x="457200" y="58978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note"/>
          <p:cNvSpPr txBox="1"/>
          <p:nvPr/>
        </p:nvSpPr>
        <p:spPr>
          <a:xfrm>
            <a:off x="594360" y="5897880"/>
            <a:ext cx="7955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Illustrative (synthetic gray levels): 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clipped z-scores pile about a third of pixels at ±π.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 2: Patch Extraction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48×48 angle matrix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2,304 values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mponent card"/>
          <p:cNvSpPr/>
          <p:nvPr/>
        </p:nvSpPr>
        <p:spPr>
          <a:xfrm>
            <a:off x="3520440" y="1143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Patch extraction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2×2 window, stride 2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56692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output card"/>
          <p:cNvSpPr/>
          <p:nvPr/>
        </p:nvSpPr>
        <p:spPr>
          <a:xfrm>
            <a:off x="60350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576 patches × 4 values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(x₀, x₁, x₂, x₃) each</a:t>
            </a:r>
            <a:endParaRPr lang="en-US" sz="1100" dirty="0"/>
          </a:p>
        </p:txBody>
      </p:sp>
      <p:sp>
        <p:nvSpPr>
          <p:cNvPr id="17" name="patch cell"/>
          <p:cNvSpPr/>
          <p:nvPr/>
        </p:nvSpPr>
        <p:spPr>
          <a:xfrm>
            <a:off x="822960" y="2423160"/>
            <a:ext cx="329184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patch cell"/>
          <p:cNvSpPr/>
          <p:nvPr/>
        </p:nvSpPr>
        <p:spPr>
          <a:xfrm>
            <a:off x="1152144" y="2423160"/>
            <a:ext cx="329184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patch cell"/>
          <p:cNvSpPr/>
          <p:nvPr/>
        </p:nvSpPr>
        <p:spPr>
          <a:xfrm>
            <a:off x="1481328" y="2423160"/>
            <a:ext cx="329184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patch cell"/>
          <p:cNvSpPr/>
          <p:nvPr/>
        </p:nvSpPr>
        <p:spPr>
          <a:xfrm>
            <a:off x="1810512" y="2423160"/>
            <a:ext cx="329184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pixel"/>
          <p:cNvSpPr/>
          <p:nvPr/>
        </p:nvSpPr>
        <p:spPr>
          <a:xfrm>
            <a:off x="2139696" y="242316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pixel"/>
          <p:cNvSpPr/>
          <p:nvPr/>
        </p:nvSpPr>
        <p:spPr>
          <a:xfrm>
            <a:off x="2468880" y="242316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pixel"/>
          <p:cNvSpPr/>
          <p:nvPr/>
        </p:nvSpPr>
        <p:spPr>
          <a:xfrm>
            <a:off x="2798064" y="242316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pixel"/>
          <p:cNvSpPr/>
          <p:nvPr/>
        </p:nvSpPr>
        <p:spPr>
          <a:xfrm>
            <a:off x="3127248" y="242316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patch cell"/>
          <p:cNvSpPr/>
          <p:nvPr/>
        </p:nvSpPr>
        <p:spPr>
          <a:xfrm>
            <a:off x="822960" y="2752344"/>
            <a:ext cx="329184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patch cell"/>
          <p:cNvSpPr/>
          <p:nvPr/>
        </p:nvSpPr>
        <p:spPr>
          <a:xfrm>
            <a:off x="1152144" y="2752344"/>
            <a:ext cx="329184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patch cell"/>
          <p:cNvSpPr/>
          <p:nvPr/>
        </p:nvSpPr>
        <p:spPr>
          <a:xfrm>
            <a:off x="1481328" y="2752344"/>
            <a:ext cx="329184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patch cell"/>
          <p:cNvSpPr/>
          <p:nvPr/>
        </p:nvSpPr>
        <p:spPr>
          <a:xfrm>
            <a:off x="1810512" y="2752344"/>
            <a:ext cx="329184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pixel"/>
          <p:cNvSpPr/>
          <p:nvPr/>
        </p:nvSpPr>
        <p:spPr>
          <a:xfrm>
            <a:off x="2139696" y="275234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pixel"/>
          <p:cNvSpPr/>
          <p:nvPr/>
        </p:nvSpPr>
        <p:spPr>
          <a:xfrm>
            <a:off x="2468880" y="275234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pixel"/>
          <p:cNvSpPr/>
          <p:nvPr/>
        </p:nvSpPr>
        <p:spPr>
          <a:xfrm>
            <a:off x="2798064" y="275234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pixel"/>
          <p:cNvSpPr/>
          <p:nvPr/>
        </p:nvSpPr>
        <p:spPr>
          <a:xfrm>
            <a:off x="3127248" y="275234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patch cell"/>
          <p:cNvSpPr/>
          <p:nvPr/>
        </p:nvSpPr>
        <p:spPr>
          <a:xfrm>
            <a:off x="822960" y="3081528"/>
            <a:ext cx="329184" cy="3291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patch cell"/>
          <p:cNvSpPr/>
          <p:nvPr/>
        </p:nvSpPr>
        <p:spPr>
          <a:xfrm>
            <a:off x="1152144" y="3081528"/>
            <a:ext cx="329184" cy="3291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patch cell"/>
          <p:cNvSpPr/>
          <p:nvPr/>
        </p:nvSpPr>
        <p:spPr>
          <a:xfrm>
            <a:off x="1481328" y="3081528"/>
            <a:ext cx="329184" cy="3291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patch cell"/>
          <p:cNvSpPr/>
          <p:nvPr/>
        </p:nvSpPr>
        <p:spPr>
          <a:xfrm>
            <a:off x="1810512" y="3081528"/>
            <a:ext cx="329184" cy="3291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pixel"/>
          <p:cNvSpPr/>
          <p:nvPr/>
        </p:nvSpPr>
        <p:spPr>
          <a:xfrm>
            <a:off x="2139696" y="308152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pixel"/>
          <p:cNvSpPr/>
          <p:nvPr/>
        </p:nvSpPr>
        <p:spPr>
          <a:xfrm>
            <a:off x="2468880" y="308152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pixel"/>
          <p:cNvSpPr/>
          <p:nvPr/>
        </p:nvSpPr>
        <p:spPr>
          <a:xfrm>
            <a:off x="2798064" y="308152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pixel"/>
          <p:cNvSpPr/>
          <p:nvPr/>
        </p:nvSpPr>
        <p:spPr>
          <a:xfrm>
            <a:off x="3127248" y="308152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patch cell"/>
          <p:cNvSpPr/>
          <p:nvPr/>
        </p:nvSpPr>
        <p:spPr>
          <a:xfrm>
            <a:off x="822960" y="3410712"/>
            <a:ext cx="329184" cy="3291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patch cell"/>
          <p:cNvSpPr/>
          <p:nvPr/>
        </p:nvSpPr>
        <p:spPr>
          <a:xfrm>
            <a:off x="1152144" y="3410712"/>
            <a:ext cx="329184" cy="3291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patch cell"/>
          <p:cNvSpPr/>
          <p:nvPr/>
        </p:nvSpPr>
        <p:spPr>
          <a:xfrm>
            <a:off x="1481328" y="3410712"/>
            <a:ext cx="329184" cy="3291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patch cell"/>
          <p:cNvSpPr/>
          <p:nvPr/>
        </p:nvSpPr>
        <p:spPr>
          <a:xfrm>
            <a:off x="1810512" y="3410712"/>
            <a:ext cx="329184" cy="3291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pixel"/>
          <p:cNvSpPr/>
          <p:nvPr/>
        </p:nvSpPr>
        <p:spPr>
          <a:xfrm>
            <a:off x="2139696" y="3410712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pixel"/>
          <p:cNvSpPr/>
          <p:nvPr/>
        </p:nvSpPr>
        <p:spPr>
          <a:xfrm>
            <a:off x="2468880" y="3410712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pixel"/>
          <p:cNvSpPr/>
          <p:nvPr/>
        </p:nvSpPr>
        <p:spPr>
          <a:xfrm>
            <a:off x="2798064" y="3410712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pixel"/>
          <p:cNvSpPr/>
          <p:nvPr/>
        </p:nvSpPr>
        <p:spPr>
          <a:xfrm>
            <a:off x="3127248" y="3410712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pixel"/>
          <p:cNvSpPr/>
          <p:nvPr/>
        </p:nvSpPr>
        <p:spPr>
          <a:xfrm>
            <a:off x="822960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pixel"/>
          <p:cNvSpPr/>
          <p:nvPr/>
        </p:nvSpPr>
        <p:spPr>
          <a:xfrm>
            <a:off x="1152144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pixel"/>
          <p:cNvSpPr/>
          <p:nvPr/>
        </p:nvSpPr>
        <p:spPr>
          <a:xfrm>
            <a:off x="1481328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pixel"/>
          <p:cNvSpPr/>
          <p:nvPr/>
        </p:nvSpPr>
        <p:spPr>
          <a:xfrm>
            <a:off x="1810512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3" name="pixel"/>
          <p:cNvSpPr/>
          <p:nvPr/>
        </p:nvSpPr>
        <p:spPr>
          <a:xfrm>
            <a:off x="2139696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pixel"/>
          <p:cNvSpPr/>
          <p:nvPr/>
        </p:nvSpPr>
        <p:spPr>
          <a:xfrm>
            <a:off x="2468880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5" name="pixel"/>
          <p:cNvSpPr/>
          <p:nvPr/>
        </p:nvSpPr>
        <p:spPr>
          <a:xfrm>
            <a:off x="2798064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6" name="pixel"/>
          <p:cNvSpPr/>
          <p:nvPr/>
        </p:nvSpPr>
        <p:spPr>
          <a:xfrm>
            <a:off x="3127248" y="3739896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pixel"/>
          <p:cNvSpPr/>
          <p:nvPr/>
        </p:nvSpPr>
        <p:spPr>
          <a:xfrm>
            <a:off x="822960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8" name="pixel"/>
          <p:cNvSpPr/>
          <p:nvPr/>
        </p:nvSpPr>
        <p:spPr>
          <a:xfrm>
            <a:off x="1152144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pixel"/>
          <p:cNvSpPr/>
          <p:nvPr/>
        </p:nvSpPr>
        <p:spPr>
          <a:xfrm>
            <a:off x="1481328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pixel"/>
          <p:cNvSpPr/>
          <p:nvPr/>
        </p:nvSpPr>
        <p:spPr>
          <a:xfrm>
            <a:off x="1810512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pixel"/>
          <p:cNvSpPr/>
          <p:nvPr/>
        </p:nvSpPr>
        <p:spPr>
          <a:xfrm>
            <a:off x="2139696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pixel"/>
          <p:cNvSpPr/>
          <p:nvPr/>
        </p:nvSpPr>
        <p:spPr>
          <a:xfrm>
            <a:off x="2468880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3" name="pixel"/>
          <p:cNvSpPr/>
          <p:nvPr/>
        </p:nvSpPr>
        <p:spPr>
          <a:xfrm>
            <a:off x="2798064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pixel"/>
          <p:cNvSpPr/>
          <p:nvPr/>
        </p:nvSpPr>
        <p:spPr>
          <a:xfrm>
            <a:off x="3127248" y="4069080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pixel"/>
          <p:cNvSpPr/>
          <p:nvPr/>
        </p:nvSpPr>
        <p:spPr>
          <a:xfrm>
            <a:off x="822960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pixel"/>
          <p:cNvSpPr/>
          <p:nvPr/>
        </p:nvSpPr>
        <p:spPr>
          <a:xfrm>
            <a:off x="1152144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pixel"/>
          <p:cNvSpPr/>
          <p:nvPr/>
        </p:nvSpPr>
        <p:spPr>
          <a:xfrm>
            <a:off x="1481328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pixel"/>
          <p:cNvSpPr/>
          <p:nvPr/>
        </p:nvSpPr>
        <p:spPr>
          <a:xfrm>
            <a:off x="1810512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9" name="pixel"/>
          <p:cNvSpPr/>
          <p:nvPr/>
        </p:nvSpPr>
        <p:spPr>
          <a:xfrm>
            <a:off x="2139696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0" name="pixel"/>
          <p:cNvSpPr/>
          <p:nvPr/>
        </p:nvSpPr>
        <p:spPr>
          <a:xfrm>
            <a:off x="2468880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1" name="pixel"/>
          <p:cNvSpPr/>
          <p:nvPr/>
        </p:nvSpPr>
        <p:spPr>
          <a:xfrm>
            <a:off x="2798064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2" name="pixel"/>
          <p:cNvSpPr/>
          <p:nvPr/>
        </p:nvSpPr>
        <p:spPr>
          <a:xfrm>
            <a:off x="3127248" y="4398264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3" name="pixel"/>
          <p:cNvSpPr/>
          <p:nvPr/>
        </p:nvSpPr>
        <p:spPr>
          <a:xfrm>
            <a:off x="822960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4" name="pixel"/>
          <p:cNvSpPr/>
          <p:nvPr/>
        </p:nvSpPr>
        <p:spPr>
          <a:xfrm>
            <a:off x="1152144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5" name="pixel"/>
          <p:cNvSpPr/>
          <p:nvPr/>
        </p:nvSpPr>
        <p:spPr>
          <a:xfrm>
            <a:off x="1481328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6" name="pixel"/>
          <p:cNvSpPr/>
          <p:nvPr/>
        </p:nvSpPr>
        <p:spPr>
          <a:xfrm>
            <a:off x="1810512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7" name="pixel"/>
          <p:cNvSpPr/>
          <p:nvPr/>
        </p:nvSpPr>
        <p:spPr>
          <a:xfrm>
            <a:off x="2139696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8" name="pixel"/>
          <p:cNvSpPr/>
          <p:nvPr/>
        </p:nvSpPr>
        <p:spPr>
          <a:xfrm>
            <a:off x="2468880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9" name="pixel"/>
          <p:cNvSpPr/>
          <p:nvPr/>
        </p:nvSpPr>
        <p:spPr>
          <a:xfrm>
            <a:off x="2798064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0" name="pixel"/>
          <p:cNvSpPr/>
          <p:nvPr/>
        </p:nvSpPr>
        <p:spPr>
          <a:xfrm>
            <a:off x="3127248" y="4727448"/>
            <a:ext cx="329184" cy="3291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48640" y="5084064"/>
            <a:ext cx="318211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48×48 image (grid simplified)</a:t>
            </a:r>
            <a:endParaRPr lang="en-US" sz="1200" dirty="0"/>
          </a:p>
        </p:txBody>
      </p:sp>
      <p:sp>
        <p:nvSpPr>
          <p:cNvPr id="82" name="arrow"/>
          <p:cNvSpPr/>
          <p:nvPr/>
        </p:nvSpPr>
        <p:spPr>
          <a:xfrm>
            <a:off x="3931920" y="3794760"/>
            <a:ext cx="5029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3" name="swatch"/>
          <p:cNvSpPr/>
          <p:nvPr/>
        </p:nvSpPr>
        <p:spPr>
          <a:xfrm>
            <a:off x="4572000" y="2468880"/>
            <a:ext cx="32004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4" name="patch row"/>
          <p:cNvSpPr/>
          <p:nvPr/>
        </p:nvSpPr>
        <p:spPr>
          <a:xfrm>
            <a:off x="4937760" y="2468880"/>
            <a:ext cx="3749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5029200" y="246888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patch 1  →  (</a:t>
            </a:r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400" i="1" baseline="-40000" dirty="0">
                <a:solidFill>
                  <a:schemeClr val="tx1"/>
                </a:solidFill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86" name="swatch"/>
          <p:cNvSpPr/>
          <p:nvPr/>
        </p:nvSpPr>
        <p:spPr>
          <a:xfrm>
            <a:off x="4572000" y="3127248"/>
            <a:ext cx="32004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7" name="patch row"/>
          <p:cNvSpPr/>
          <p:nvPr/>
        </p:nvSpPr>
        <p:spPr>
          <a:xfrm>
            <a:off x="4937760" y="3127248"/>
            <a:ext cx="3749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5029200" y="3127248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patch 2  →  (</a:t>
            </a:r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400" i="1" baseline="-40000" dirty="0">
                <a:solidFill>
                  <a:schemeClr val="tx1"/>
                </a:solidFill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89" name="swatch"/>
          <p:cNvSpPr/>
          <p:nvPr/>
        </p:nvSpPr>
        <p:spPr>
          <a:xfrm>
            <a:off x="4572000" y="3785616"/>
            <a:ext cx="320040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0" name="patch row"/>
          <p:cNvSpPr/>
          <p:nvPr/>
        </p:nvSpPr>
        <p:spPr>
          <a:xfrm>
            <a:off x="4937760" y="3785616"/>
            <a:ext cx="3749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5029200" y="3785616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patch 3  →  (</a:t>
            </a:r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400" i="1" baseline="-40000" dirty="0">
                <a:solidFill>
                  <a:schemeClr val="tx1"/>
                </a:solidFill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92" name="swatch"/>
          <p:cNvSpPr/>
          <p:nvPr/>
        </p:nvSpPr>
        <p:spPr>
          <a:xfrm>
            <a:off x="4572000" y="4443984"/>
            <a:ext cx="320040" cy="502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3" name="patch row"/>
          <p:cNvSpPr/>
          <p:nvPr/>
        </p:nvSpPr>
        <p:spPr>
          <a:xfrm>
            <a:off x="4937760" y="4443984"/>
            <a:ext cx="3749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5029200" y="4443984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patch 4  →  (</a:t>
            </a:r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400" i="1" baseline="-40000" dirty="0">
                <a:solidFill>
                  <a:schemeClr val="tx1"/>
                </a:solidFill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x</a:t>
            </a:r>
            <a:pPr algn="l"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95" name="Text 92"/>
          <p:cNvSpPr txBox="1"/>
          <p:nvPr/>
        </p:nvSpPr>
        <p:spPr>
          <a:xfrm>
            <a:off x="457200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⋮  576 patches in total</a:t>
            </a:r>
            <a:endParaRPr lang="en-US" sz="1400" dirty="0"/>
          </a:p>
        </p:txBody>
      </p:sp>
      <p:sp>
        <p:nvSpPr>
          <p:cNvPr id="96" name="note strip"/>
          <p:cNvSpPr/>
          <p:nvPr/>
        </p:nvSpPr>
        <p:spPr>
          <a:xfrm>
            <a:off x="457200" y="566928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7" name="note"/>
          <p:cNvSpPr txBox="1"/>
          <p:nvPr/>
        </p:nvSpPr>
        <p:spPr>
          <a:xfrm>
            <a:off x="594360" y="5669280"/>
            <a:ext cx="7955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24 × 24 = 576 patches.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patch has 4 pixels, so 4 qubits are enough whatever the image size.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 3: Quantum Circuit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angles x₀…x₃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patch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mponent card"/>
          <p:cNvSpPr/>
          <p:nvPr/>
        </p:nvSpPr>
        <p:spPr>
          <a:xfrm>
            <a:off x="3520440" y="1143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circuit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 qubits · 15 gates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56692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output card"/>
          <p:cNvSpPr/>
          <p:nvPr/>
        </p:nvSpPr>
        <p:spPr>
          <a:xfrm>
            <a:off x="60350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Entangled 4-qubit state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depends on all 4 pixels</a:t>
            </a:r>
            <a:endParaRPr lang="en-US" sz="1100" dirty="0"/>
          </a:p>
        </p:txBody>
      </p:sp>
      <p:pic>
        <p:nvPicPr>
          <p:cNvPr id="17" name="Image 0" descr="Four-qubit filter circ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6583680" cy="2908968"/>
          </a:xfrm>
          <a:prstGeom prst="rect">
            <a:avLst/>
          </a:prstGeom>
        </p:spPr>
      </p:pic>
      <p:sp>
        <p:nvSpPr>
          <p:cNvPr id="18" name="tag"/>
          <p:cNvSpPr/>
          <p:nvPr/>
        </p:nvSpPr>
        <p:spPr>
          <a:xfrm>
            <a:off x="457200" y="49377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98348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Encode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440680"/>
            <a:ext cx="2468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RY(xᵢ) turns pixel i into a rotation</a:t>
            </a:r>
            <a:endParaRPr lang="en-US" sz="1400" dirty="0"/>
          </a:p>
        </p:txBody>
      </p:sp>
      <p:sp>
        <p:nvSpPr>
          <p:cNvPr id="21" name="tag"/>
          <p:cNvSpPr/>
          <p:nvPr/>
        </p:nvSpPr>
        <p:spPr>
          <a:xfrm>
            <a:off x="3246120" y="49377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46120" y="498348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Train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3337560" y="5440680"/>
            <a:ext cx="2468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RZ, RX: 8 parameters θ</a:t>
            </a:r>
            <a:endParaRPr lang="en-US" sz="1400" dirty="0"/>
          </a:p>
        </p:txBody>
      </p:sp>
      <p:sp>
        <p:nvSpPr>
          <p:cNvPr id="24" name="tag"/>
          <p:cNvSpPr/>
          <p:nvPr/>
        </p:nvSpPr>
        <p:spPr>
          <a:xfrm>
            <a:off x="6035040" y="49377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035040" y="498348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Entangle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6126480" y="5440680"/>
            <a:ext cx="2468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CNOT chain 0→1→2→3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 4: Measurement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Entangled 4-qubit state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from the circuit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mponent card"/>
          <p:cNvSpPr/>
          <p:nvPr/>
        </p:nvSpPr>
        <p:spPr>
          <a:xfrm>
            <a:off x="3520440" y="1143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Measurement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Pauli-Z on all 4 qubits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56692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output card"/>
          <p:cNvSpPr/>
          <p:nvPr/>
        </p:nvSpPr>
        <p:spPr>
          <a:xfrm>
            <a:off x="60350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values f₀…f₃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in [−1, 1]</a:t>
            </a:r>
            <a:endParaRPr lang="en-US" sz="1100" dirty="0"/>
          </a:p>
        </p:txBody>
      </p:sp>
      <p:sp>
        <p:nvSpPr>
          <p:cNvPr id="17" name="equation card"/>
          <p:cNvSpPr/>
          <p:nvPr/>
        </p:nvSpPr>
        <p:spPr>
          <a:xfrm>
            <a:off x="457200" y="219456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240280"/>
            <a:ext cx="7955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qubit:  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</a:t>
            </a:r>
            <a:pPr algn="l" indent="0" marL="0">
              <a:buNone/>
            </a:pPr>
            <a:r>
              <a:rPr lang="en-US" sz="1600" i="1" baseline="-40000" dirty="0">
                <a:solidFill>
                  <a:schemeClr val="tx1"/>
                </a:solidFill>
              </a:rPr>
              <a:t>i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 = cos θ</a:t>
            </a:r>
            <a:pPr algn="l" indent="0" marL="0">
              <a:buNone/>
            </a:pPr>
            <a:r>
              <a:rPr lang="en-US" sz="1600" i="1" baseline="-40000" dirty="0">
                <a:solidFill>
                  <a:schemeClr val="tx1"/>
                </a:solidFill>
              </a:rPr>
              <a:t>2i+1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 cos 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600" i="1" baseline="-40000" dirty="0">
                <a:solidFill>
                  <a:schemeClr val="tx1"/>
                </a:solidFill>
              </a:rPr>
              <a:t>i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 + sin θ</a:t>
            </a:r>
            <a:pPr algn="l" indent="0" marL="0">
              <a:buNone/>
            </a:pPr>
            <a:r>
              <a:rPr lang="en-US" sz="1600" i="1" baseline="-40000" dirty="0">
                <a:solidFill>
                  <a:schemeClr val="tx1"/>
                </a:solidFill>
              </a:rPr>
              <a:t>2i+1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 sin θ</a:t>
            </a:r>
            <a:pPr algn="l" indent="0" marL="0">
              <a:buNone/>
            </a:pPr>
            <a:r>
              <a:rPr lang="en-US" sz="1600" i="1" baseline="-40000" dirty="0">
                <a:solidFill>
                  <a:schemeClr val="tx1"/>
                </a:solidFill>
              </a:rPr>
              <a:t>2i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 sin </a:t>
            </a:r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600" i="1" baseline="-40000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743200"/>
            <a:ext cx="79552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with CNOTs:  </a:t>
            </a:r>
            <a:pPr algn="l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f</a:t>
            </a:r>
            <a:pPr algn="l" indent="0" marL="0">
              <a:buNone/>
            </a:pPr>
            <a:r>
              <a:rPr lang="en-US" sz="2400" b="1" i="1" baseline="-40000" dirty="0">
                <a:solidFill>
                  <a:schemeClr val="accent1"/>
                </a:solidFill>
              </a:rPr>
              <a:t>k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 = </a:t>
            </a:r>
            <a:pPr algn="l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s</a:t>
            </a:r>
            <a:pPr algn="l" indent="0" marL="0">
              <a:buNone/>
            </a:pPr>
            <a:r>
              <a:rPr lang="en-US" sz="2400" b="1" i="1" baseline="-40000" dirty="0">
                <a:solidFill>
                  <a:schemeClr val="accent1"/>
                </a:solidFill>
              </a:rPr>
              <a:t>0</a:t>
            </a:r>
            <a:pPr algn="l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s</a:t>
            </a:r>
            <a:pPr algn="l" indent="0" marL="0">
              <a:buNone/>
            </a:pPr>
            <a:r>
              <a:rPr lang="en-US" sz="2400" b="1" i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 ⋯ </a:t>
            </a:r>
            <a:pPr algn="l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s</a:t>
            </a:r>
            <a:pPr algn="l" indent="0" marL="0">
              <a:buNone/>
            </a:pPr>
            <a:r>
              <a:rPr lang="en-US" sz="2400" b="1" i="1" baseline="-40000" dirty="0">
                <a:solidFill>
                  <a:schemeClr val="accent1"/>
                </a:solidFill>
              </a:rPr>
              <a:t>k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   f₀ sees 1 pixel, f₃ sees all 4</a:t>
            </a:r>
            <a:endParaRPr lang="en-US" sz="2400" dirty="0"/>
          </a:p>
        </p:txBody>
      </p:sp>
      <p:pic>
        <p:nvPicPr>
          <p:cNvPr id="20" name="Image 0" descr="Filter response p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66160"/>
            <a:ext cx="7498080" cy="2082800"/>
          </a:xfrm>
          <a:prstGeom prst="rect">
            <a:avLst/>
          </a:prstGeom>
        </p:spPr>
      </p:pic>
      <p:sp>
        <p:nvSpPr>
          <p:cNvPr id="21" name="note strip"/>
          <p:cNvSpPr/>
          <p:nvPr/>
        </p:nvSpPr>
        <p:spPr>
          <a:xfrm>
            <a:off x="457200" y="57607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ote"/>
          <p:cNvSpPr txBox="1"/>
          <p:nvPr/>
        </p:nvSpPr>
        <p:spPr>
          <a:xfrm>
            <a:off x="594360" y="5760720"/>
            <a:ext cx="7955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Verified: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closed form matches the full simulation to 7×10⁻¹⁶; 1000 shots add at most 0.032 noise.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 5: Classifier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24×24×4 feature maps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2,304 values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mponent card"/>
          <p:cNvSpPr/>
          <p:nvPr/>
        </p:nvSpPr>
        <p:spPr>
          <a:xfrm>
            <a:off x="3520440" y="1143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Classifier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flatten → FC → softmax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56692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output card"/>
          <p:cNvSpPr/>
          <p:nvPr/>
        </p:nvSpPr>
        <p:spPr>
          <a:xfrm>
            <a:off x="60350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 probabilities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(ORL) or 15 (Yale)</a:t>
            </a:r>
            <a:endParaRPr lang="en-US" sz="1100" dirty="0"/>
          </a:p>
        </p:txBody>
      </p:sp>
      <p:sp>
        <p:nvSpPr>
          <p:cNvPr id="17" name="feature map 1"/>
          <p:cNvSpPr/>
          <p:nvPr/>
        </p:nvSpPr>
        <p:spPr>
          <a:xfrm>
            <a:off x="822960" y="2788920"/>
            <a:ext cx="1097280" cy="10972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feature map 2"/>
          <p:cNvSpPr/>
          <p:nvPr/>
        </p:nvSpPr>
        <p:spPr>
          <a:xfrm>
            <a:off x="1005840" y="2606040"/>
            <a:ext cx="1097280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feature map 3"/>
          <p:cNvSpPr/>
          <p:nvPr/>
        </p:nvSpPr>
        <p:spPr>
          <a:xfrm>
            <a:off x="1188720" y="2423160"/>
            <a:ext cx="109728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feature map 4"/>
          <p:cNvSpPr/>
          <p:nvPr/>
        </p:nvSpPr>
        <p:spPr>
          <a:xfrm>
            <a:off x="1371600" y="2240280"/>
            <a:ext cx="109728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24×24×4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2606040" y="2926080"/>
            <a:ext cx="36576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flatten"/>
          <p:cNvSpPr/>
          <p:nvPr/>
        </p:nvSpPr>
        <p:spPr>
          <a:xfrm>
            <a:off x="3108960" y="2286000"/>
            <a:ext cx="640080" cy="20116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108960" y="2926080"/>
            <a:ext cx="640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2,304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88036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flatten</a:t>
            </a:r>
            <a:endParaRPr lang="en-US" sz="1200" dirty="0"/>
          </a:p>
        </p:txBody>
      </p:sp>
      <p:sp>
        <p:nvSpPr>
          <p:cNvPr id="26" name="arrow"/>
          <p:cNvSpPr/>
          <p:nvPr/>
        </p:nvSpPr>
        <p:spPr>
          <a:xfrm>
            <a:off x="3886200" y="2926080"/>
            <a:ext cx="36576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fc layer"/>
          <p:cNvSpPr/>
          <p:nvPr/>
        </p:nvSpPr>
        <p:spPr>
          <a:xfrm>
            <a:off x="4389120" y="2286000"/>
            <a:ext cx="1371600" cy="201168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8912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Linear layer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2,304 → 40 (15)</a:t>
            </a:r>
            <a:endParaRPr lang="en-US" sz="1200" dirty="0"/>
          </a:p>
        </p:txBody>
      </p:sp>
      <p:sp>
        <p:nvSpPr>
          <p:cNvPr id="30" name="arrow"/>
          <p:cNvSpPr/>
          <p:nvPr/>
        </p:nvSpPr>
        <p:spPr>
          <a:xfrm>
            <a:off x="5897880" y="2926080"/>
            <a:ext cx="36576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probability bar"/>
          <p:cNvSpPr/>
          <p:nvPr/>
        </p:nvSpPr>
        <p:spPr>
          <a:xfrm>
            <a:off x="6446520" y="3840480"/>
            <a:ext cx="292608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probability bar"/>
          <p:cNvSpPr/>
          <p:nvPr/>
        </p:nvSpPr>
        <p:spPr>
          <a:xfrm>
            <a:off x="6858000" y="3566160"/>
            <a:ext cx="292608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probability bar"/>
          <p:cNvSpPr/>
          <p:nvPr/>
        </p:nvSpPr>
        <p:spPr>
          <a:xfrm>
            <a:off x="7269480" y="2468880"/>
            <a:ext cx="292608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probability bar"/>
          <p:cNvSpPr/>
          <p:nvPr/>
        </p:nvSpPr>
        <p:spPr>
          <a:xfrm>
            <a:off x="7680960" y="3749040"/>
            <a:ext cx="292608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probability bar"/>
          <p:cNvSpPr/>
          <p:nvPr/>
        </p:nvSpPr>
        <p:spPr>
          <a:xfrm>
            <a:off x="8092440" y="3977640"/>
            <a:ext cx="292608" cy="320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5508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softmax probabilities</a:t>
            </a:r>
            <a:endParaRPr lang="en-US" sz="1200" dirty="0"/>
          </a:p>
        </p:txBody>
      </p:sp>
      <p:sp>
        <p:nvSpPr>
          <p:cNvPr id="37" name="info"/>
          <p:cNvSpPr/>
          <p:nvPr/>
        </p:nvSpPr>
        <p:spPr>
          <a:xfrm>
            <a:off x="457200" y="489204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7200" y="493776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Loss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349240"/>
            <a:ext cx="2468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softmax cross-entropy</a:t>
            </a:r>
            <a:endParaRPr lang="en-US" sz="1400" dirty="0"/>
          </a:p>
        </p:txBody>
      </p:sp>
      <p:sp>
        <p:nvSpPr>
          <p:cNvPr id="40" name="info"/>
          <p:cNvSpPr/>
          <p:nvPr/>
        </p:nvSpPr>
        <p:spPr>
          <a:xfrm>
            <a:off x="3246120" y="489204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246120" y="493776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Optimiser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337560" y="5349240"/>
            <a:ext cx="2468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Adam, learning rate 10⁻³</a:t>
            </a:r>
            <a:endParaRPr lang="en-US" sz="1400" dirty="0"/>
          </a:p>
        </p:txBody>
      </p:sp>
      <p:sp>
        <p:nvSpPr>
          <p:cNvPr id="43" name="info"/>
          <p:cNvSpPr/>
          <p:nvPr/>
        </p:nvSpPr>
        <p:spPr>
          <a:xfrm>
            <a:off x="6035040" y="489204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035040" y="493776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Trainable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6126480" y="5349240"/>
            <a:ext cx="2468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quantum + 92,200 classical (ORL)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Training the Quantum Parameters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Loss 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from the predictions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mponent card"/>
          <p:cNvSpPr/>
          <p:nvPr/>
        </p:nvSpPr>
        <p:spPr>
          <a:xfrm>
            <a:off x="3520440" y="1143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Gradient step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backprop (simulator)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5669280" y="1463040"/>
            <a:ext cx="32004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output card"/>
          <p:cNvSpPr/>
          <p:nvPr/>
        </p:nvSpPr>
        <p:spPr>
          <a:xfrm>
            <a:off x="60350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79576"/>
            <a:ext cx="2468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39903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Updated parameters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728216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 θ + classical weights</a:t>
            </a:r>
            <a:endParaRPr lang="en-US" sz="1100" dirty="0"/>
          </a:p>
        </p:txBody>
      </p:sp>
      <p:pic>
        <p:nvPicPr>
          <p:cNvPr id="17" name="Image 0" descr="Circuit cost and shot no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6583680" cy="2194560"/>
          </a:xfrm>
          <a:prstGeom prst="rect">
            <a:avLst/>
          </a:prstGeom>
        </p:spPr>
      </p:pic>
      <p:sp>
        <p:nvSpPr>
          <p:cNvPr id="18" name="formula card"/>
          <p:cNvSpPr/>
          <p:nvPr/>
        </p:nvSpPr>
        <p:spPr>
          <a:xfrm>
            <a:off x="457200" y="44348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4434840"/>
            <a:ext cx="4297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∂f/∂θ = ½ [ f(θ + π/2) − f(θ − π/2) ]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937760" y="4434840"/>
            <a:ext cx="3657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parameter shift on hardware: two extra runs per parameter; backprop gives the same gradient in one pass</a:t>
            </a:r>
            <a:endParaRPr lang="en-US" sz="1250" dirty="0"/>
          </a:p>
        </p:txBody>
      </p:sp>
      <p:sp>
        <p:nvSpPr>
          <p:cNvPr id="21" name="stat card"/>
          <p:cNvSpPr/>
          <p:nvPr/>
        </p:nvSpPr>
        <p:spPr>
          <a:xfrm>
            <a:off x="457200" y="530352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at value"/>
          <p:cNvSpPr txBox="1"/>
          <p:nvPr/>
        </p:nvSpPr>
        <p:spPr>
          <a:xfrm>
            <a:off x="457200" y="5376672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17</a:t>
            </a:r>
            <a:endParaRPr lang="en-US" sz="2400" dirty="0"/>
          </a:p>
        </p:txBody>
      </p:sp>
      <p:sp>
        <p:nvSpPr>
          <p:cNvPr id="23" name="stat label"/>
          <p:cNvSpPr txBox="1"/>
          <p:nvPr/>
        </p:nvSpPr>
        <p:spPr>
          <a:xfrm>
            <a:off x="548640" y="5826557"/>
            <a:ext cx="1737360" cy="4425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runs per patch</a:t>
            </a:r>
            <a:endParaRPr lang="en-US" sz="1100" dirty="0"/>
          </a:p>
        </p:txBody>
      </p:sp>
      <p:sp>
        <p:nvSpPr>
          <p:cNvPr id="24" name="stat card"/>
          <p:cNvSpPr/>
          <p:nvPr/>
        </p:nvSpPr>
        <p:spPr>
          <a:xfrm>
            <a:off x="2560320" y="530352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tat value"/>
          <p:cNvSpPr txBox="1"/>
          <p:nvPr/>
        </p:nvSpPr>
        <p:spPr>
          <a:xfrm>
            <a:off x="2560320" y="5376672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9,792</a:t>
            </a:r>
            <a:endParaRPr lang="en-US" sz="2400" dirty="0"/>
          </a:p>
        </p:txBody>
      </p:sp>
      <p:sp>
        <p:nvSpPr>
          <p:cNvPr id="26" name="stat label"/>
          <p:cNvSpPr txBox="1"/>
          <p:nvPr/>
        </p:nvSpPr>
        <p:spPr>
          <a:xfrm>
            <a:off x="2651760" y="5826557"/>
            <a:ext cx="1737360" cy="4425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runs per image per step</a:t>
            </a:r>
            <a:endParaRPr lang="en-US" sz="1100" dirty="0"/>
          </a:p>
        </p:txBody>
      </p:sp>
      <p:sp>
        <p:nvSpPr>
          <p:cNvPr id="27" name="stat card"/>
          <p:cNvSpPr/>
          <p:nvPr/>
        </p:nvSpPr>
        <p:spPr>
          <a:xfrm>
            <a:off x="4663440" y="530352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tat value"/>
          <p:cNvSpPr txBox="1"/>
          <p:nvPr/>
        </p:nvSpPr>
        <p:spPr>
          <a:xfrm>
            <a:off x="4663440" y="5376672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8.2×10⁷</a:t>
            </a:r>
            <a:endParaRPr lang="en-US" sz="2400" dirty="0"/>
          </a:p>
        </p:txBody>
      </p:sp>
      <p:sp>
        <p:nvSpPr>
          <p:cNvPr id="29" name="stat label"/>
          <p:cNvSpPr txBox="1"/>
          <p:nvPr/>
        </p:nvSpPr>
        <p:spPr>
          <a:xfrm>
            <a:off x="4754880" y="5826557"/>
            <a:ext cx="1737360" cy="4425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runs, one ORL training</a:t>
            </a:r>
            <a:endParaRPr lang="en-US" sz="1100" dirty="0"/>
          </a:p>
        </p:txBody>
      </p:sp>
      <p:sp>
        <p:nvSpPr>
          <p:cNvPr id="30" name="stat card"/>
          <p:cNvSpPr/>
          <p:nvPr/>
        </p:nvSpPr>
        <p:spPr>
          <a:xfrm>
            <a:off x="6766560" y="530352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tat value"/>
          <p:cNvSpPr txBox="1"/>
          <p:nvPr/>
        </p:nvSpPr>
        <p:spPr>
          <a:xfrm>
            <a:off x="6766560" y="5376672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2.2×10⁻¹⁵</a:t>
            </a:r>
            <a:endParaRPr lang="en-US" sz="2000" dirty="0"/>
          </a:p>
        </p:txBody>
      </p:sp>
      <p:sp>
        <p:nvSpPr>
          <p:cNvPr id="32" name="stat label"/>
          <p:cNvSpPr txBox="1"/>
          <p:nvPr/>
        </p:nvSpPr>
        <p:spPr>
          <a:xfrm>
            <a:off x="6858000" y="5826557"/>
            <a:ext cx="1737360" cy="4425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gradient mismatch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&amp; Discussion: ORL</a:t>
            </a:r>
            <a:endParaRPr lang="en-US" sz="3000" dirty="0"/>
          </a:p>
        </p:txBody>
      </p:sp>
      <p:pic>
        <p:nvPicPr>
          <p:cNvPr id="4" name="Image 0" descr="ORL training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1955800"/>
          </a:xfrm>
          <a:prstGeom prst="rect">
            <a:avLst/>
          </a:prstGeom>
        </p:spPr>
      </p:pic>
      <p:pic>
        <p:nvPicPr>
          <p:cNvPr id="5" name="Image 1" descr="ORL confusion matr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2926080" cy="264524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62356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ORL confusion matrix, 10 seeds (1,200 predictions)</a:t>
            </a:r>
            <a:endParaRPr lang="en-US" sz="1100" dirty="0"/>
          </a:p>
        </p:txBody>
      </p:sp>
      <p:sp>
        <p:nvSpPr>
          <p:cNvPr id="7" name="stat card"/>
          <p:cNvSpPr/>
          <p:nvPr/>
        </p:nvSpPr>
        <p:spPr>
          <a:xfrm>
            <a:off x="45720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457200" y="3319272"/>
            <a:ext cx="2468880" cy="5257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94.67%</a:t>
            </a:r>
            <a:endParaRPr lang="en-US" sz="2800" dirty="0"/>
          </a:p>
        </p:txBody>
      </p:sp>
      <p:sp>
        <p:nvSpPr>
          <p:cNvPr id="9" name="stat label"/>
          <p:cNvSpPr txBox="1"/>
          <p:nvPr/>
        </p:nvSpPr>
        <p:spPr>
          <a:xfrm>
            <a:off x="548640" y="3792931"/>
            <a:ext cx="2286000" cy="46268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mean test accuracy (max 97.50 · std 1.68)</a:t>
            </a:r>
            <a:endParaRPr lang="en-US" sz="1100" dirty="0"/>
          </a:p>
        </p:txBody>
      </p:sp>
      <p:sp>
        <p:nvSpPr>
          <p:cNvPr id="10" name="stat card"/>
          <p:cNvSpPr/>
          <p:nvPr/>
        </p:nvSpPr>
        <p:spPr>
          <a:xfrm>
            <a:off x="301752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at value"/>
          <p:cNvSpPr txBox="1"/>
          <p:nvPr/>
        </p:nvSpPr>
        <p:spPr>
          <a:xfrm>
            <a:off x="3017520" y="3319272"/>
            <a:ext cx="2468880" cy="5257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100% → 95.83%</a:t>
            </a:r>
            <a:endParaRPr lang="en-US" sz="2000" dirty="0"/>
          </a:p>
        </p:txBody>
      </p:sp>
      <p:sp>
        <p:nvSpPr>
          <p:cNvPr id="12" name="stat label"/>
          <p:cNvSpPr txBox="1"/>
          <p:nvPr/>
        </p:nvSpPr>
        <p:spPr>
          <a:xfrm>
            <a:off x="3108960" y="3792931"/>
            <a:ext cx="2286000" cy="46268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train from epoch 3 · test from epoch 14 (seed 0)</a:t>
            </a:r>
            <a:endParaRPr lang="en-US" sz="1100" dirty="0"/>
          </a:p>
        </p:txBody>
      </p:sp>
      <p:sp>
        <p:nvSpPr>
          <p:cNvPr id="13" name="discussion"/>
          <p:cNvSpPr/>
          <p:nvPr/>
        </p:nvSpPr>
        <p:spPr>
          <a:xfrm>
            <a:off x="457200" y="4526280"/>
            <a:ext cx="8229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9436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Discussion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4937760"/>
            <a:ext cx="79552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Learns fast: test accuracy 63% → 92% in epoch 2, above 95% from epoch 7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Min–max scaling beats Gaussian on all 10 seeds (94.67% vs 91.50%)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Errors are scattered single confusions; the 4.17-point train–test gap shows some over-fitting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&amp; Discussion: Yale</a:t>
            </a:r>
            <a:endParaRPr lang="en-US" sz="3000" dirty="0"/>
          </a:p>
        </p:txBody>
      </p:sp>
      <p:pic>
        <p:nvPicPr>
          <p:cNvPr id="4" name="Image 0" descr="s_yal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2377440"/>
          </a:xfrm>
          <a:prstGeom prst="rect">
            <a:avLst/>
          </a:prstGeom>
        </p:spPr>
      </p:pic>
      <p:pic>
        <p:nvPicPr>
          <p:cNvPr id="5" name="Image 1" descr="Yale confusion matr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606040" cy="226612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65760" y="598932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Yale confusion matrix (tuning run, 450 predictions)</a:t>
            </a:r>
            <a:endParaRPr lang="en-US" sz="1000" dirty="0"/>
          </a:p>
        </p:txBody>
      </p:sp>
      <p:sp>
        <p:nvSpPr>
          <p:cNvPr id="7" name="stat card"/>
          <p:cNvSpPr/>
          <p:nvPr/>
        </p:nvSpPr>
        <p:spPr>
          <a:xfrm>
            <a:off x="3291840" y="36576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3291840" y="3730752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85.56%</a:t>
            </a:r>
            <a:endParaRPr lang="en-US" sz="2800" dirty="0"/>
          </a:p>
        </p:txBody>
      </p:sp>
      <p:sp>
        <p:nvSpPr>
          <p:cNvPr id="9" name="stat label"/>
          <p:cNvSpPr txBox="1"/>
          <p:nvPr/>
        </p:nvSpPr>
        <p:spPr>
          <a:xfrm>
            <a:off x="3383280" y="4180637"/>
            <a:ext cx="2468880" cy="4425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mean accuracy · max 91.11 · std 4.79</a:t>
            </a:r>
            <a:endParaRPr lang="en-US" sz="1100" dirty="0"/>
          </a:p>
        </p:txBody>
      </p:sp>
      <p:sp>
        <p:nvSpPr>
          <p:cNvPr id="10" name="stat card"/>
          <p:cNvSpPr/>
          <p:nvPr/>
        </p:nvSpPr>
        <p:spPr>
          <a:xfrm>
            <a:off x="6035040" y="36576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at value"/>
          <p:cNvSpPr txBox="1"/>
          <p:nvPr/>
        </p:nvSpPr>
        <p:spPr>
          <a:xfrm>
            <a:off x="6035040" y="3730752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22 → 29 pts</a:t>
            </a:r>
            <a:endParaRPr lang="en-US" sz="2400" dirty="0"/>
          </a:p>
        </p:txBody>
      </p:sp>
      <p:sp>
        <p:nvSpPr>
          <p:cNvPr id="12" name="stat label"/>
          <p:cNvSpPr txBox="1"/>
          <p:nvPr/>
        </p:nvSpPr>
        <p:spPr>
          <a:xfrm>
            <a:off x="6126480" y="4180637"/>
            <a:ext cx="2468880" cy="44257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train–validation gap with augmentation</a:t>
            </a:r>
            <a:endParaRPr lang="en-US" sz="1100" dirty="0"/>
          </a:p>
        </p:txBody>
      </p:sp>
      <p:sp>
        <p:nvSpPr>
          <p:cNvPr id="13" name="discussion"/>
          <p:cNvSpPr/>
          <p:nvPr/>
        </p:nvSpPr>
        <p:spPr>
          <a:xfrm>
            <a:off x="329184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383280" y="4846320"/>
            <a:ext cx="52120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Over-fits: 100% train accuracy on only 120 images</a:t>
            </a:r>
            <a:endParaRPr lang="en-US" sz="125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Augmentation did not help (validation 77.8 → 68.1%)</a:t>
            </a:r>
            <a:endParaRPr lang="en-US" sz="125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One test image = 2.22 points, so Yale varies more than ORL</a:t>
            </a:r>
            <a:endParaRPr lang="en-US" sz="125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Confusions: subjects 7, 8 read as 14; subject 5 as 13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Future Work &amp; Conclusion</a:t>
            </a:r>
            <a:endParaRPr lang="en-US" sz="3000" dirty="0"/>
          </a:p>
        </p:txBody>
      </p:sp>
      <p:sp>
        <p:nvSpPr>
          <p:cNvPr id="4" name="column"/>
          <p:cNvSpPr/>
          <p:nvPr/>
        </p:nvSpPr>
        <p:spPr>
          <a:xfrm>
            <a:off x="457200" y="118872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lumn"/>
          <p:cNvSpPr/>
          <p:nvPr/>
        </p:nvSpPr>
        <p:spPr>
          <a:xfrm>
            <a:off x="3246120" y="118872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lumn"/>
          <p:cNvSpPr/>
          <p:nvPr/>
        </p:nvSpPr>
        <p:spPr>
          <a:xfrm>
            <a:off x="6035040" y="118872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Achieved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78308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MG-QCNN built in PennyLane + PyTorch</a:t>
            </a:r>
            <a:endParaRPr lang="en-US" sz="16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Closed-form filter verified</a:t>
            </a:r>
            <a:endParaRPr lang="en-US" sz="16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ORL 94.67%, Yale 85.56%</a:t>
            </a:r>
            <a:endParaRPr lang="en-US" sz="16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Min–max beats Gaussian on all ORL seeds</a:t>
            </a:r>
            <a:endParaRPr lang="en-US" sz="1600" dirty="0"/>
          </a:p>
        </p:txBody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84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4048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178308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Noise-free simulation, not hardware</a:t>
            </a:r>
            <a:endParaRPr lang="en-US" sz="16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Yale over-fits: 100% train vs about 85% test</a:t>
            </a:r>
            <a:endParaRPr lang="en-US" sz="16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ablation or noise study yet</a:t>
            </a:r>
            <a:endParaRPr lang="en-US" sz="1600" dirty="0"/>
          </a:p>
        </p:txBody>
      </p:sp>
      <p:pic>
        <p:nvPicPr>
          <p:cNvPr id="13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98448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2940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126480" y="178308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a feature-extraction stage before the quantum layer to cut the patches needing circuit runs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80760" y="2788920"/>
          <a:ext cx="25603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summary band"/>
          <p:cNvSpPr/>
          <p:nvPr/>
        </p:nvSpPr>
        <p:spPr>
          <a:xfrm>
            <a:off x="457200" y="51206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8 quantum parameters · ORL 94.67% · Yale 85.56%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Fewer patches mean 4× to 16× fewer circuit runs and make real parameter-shift training practical.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[1] M. Wang, W. Deng, “Deep face recognition: A survey,” Neurocomputing, 2021.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[2] N. C. Thompson et al., “The computational limits of deep learning,” arXiv:2007.05558, 2020.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[3] J. Preskill, “Quantum computing in the NISQ era and beyond,” Quantum,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[4] Y. Zhu et al., “Quantum face recognition with multigate quantum convolutional neural network,” IEEE Trans. Artif. Intell., 2024.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[5] Y. LeCun et al., “Backpropagation applied to handwritten zip code recognition,” Neural Comput., 1989.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[6] Y. Taigman et al., “DeepFace,” CVPR, 2014.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[7] M. Cerezo et al., “Variational quantum algorithms,” Nat. Rev. Phys., 2021.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[8] J. R. McClean et al., “Barren plateaus in quantum neural network training landscapes,” Nat. Commun.,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[9] Z. Holmes et al., “Connecting ansatz expressibility to gradient magnitudes and barren plateaus,” PRX Quantum, 2022.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[10] I. Cong, S. Choi, M. D. Lukin, “Quantum convolutional neural networks,” Nat. Phys., 2019.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[11] M. Henderson et al., “Quanvolutional neural networks,” Quantum Mach. Intell., 2020.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[12] D. Mattern et al., “Variational quanvolutional neural networks with enhanced image encoding,” arXiv:2106.07327, 2021.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[13] S. Oh, J. Choi, J. Kim, “A tutorial on quantum convolutional neural networks (QCNN),” ICTC, 2020.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[14] S. Y.-C. Chen et al., “Quantum convolutional neural networks for high energy physics data analysis,” Phys. Rev. Res., 2022.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[15] A. Senokosov et al., “Quantum machine learning for image classification,” arXiv:2304.09224, 2023.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[16] T. Hur, L. Kim, D. K. Park, “Quantum convolutional neural network for classical data classification,” Quantum Mach. Intell., 2022.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[17] F. S. Samaria, A. C. Harter, “Parameterisation of a stochastic model for human face identification,” WACV, 1994.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[18] A. S. Georghiades et al., “From few to many,” FG, 2000.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[19] D. P. Kingma, J. Ba, “Adam: A method for stochastic optimization,” ICLR, 2015.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[20] V. Bergholm et al., “PennyLane,” arXiv:1811.04968,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[21] A. Paszke et al., “PyTorch,” NeurIPS, 2019.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[22] K. Mitarai et al., “Quantum circuit learning,” Phys. Rev. A,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[23] M. Schuld et al., “Evaluating analytic gradients on quantum hardware,” Phys. Rev. A, 2019.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CNN">
  <a:themeElements>
    <a:clrScheme name="QCNN">
      <a:dk1>
        <a:srgbClr val="212121"/>
      </a:dk1>
      <a:lt1>
        <a:srgbClr val="FFFFFF"/>
      </a:lt1>
      <a:dk2>
        <a:srgbClr val="455A64"/>
      </a:dk2>
      <a:lt2>
        <a:srgbClr val="ECEFF1"/>
      </a:lt2>
      <a:accent1>
        <a:srgbClr val="C62828"/>
      </a:accent1>
      <a:accent2>
        <a:srgbClr val="FDECEA"/>
      </a:accent2>
      <a:accent3>
        <a:srgbClr val="90A4AE"/>
      </a:accent3>
      <a:accent4>
        <a:srgbClr val="8E1B1B"/>
      </a:accent4>
      <a:accent5>
        <a:srgbClr val="2E7D32"/>
      </a:accent5>
      <a:accent6>
        <a:srgbClr val="CFD8DC"/>
      </a:accent6>
      <a:hlink>
        <a:srgbClr val="C62828"/>
      </a:hlink>
      <a:folHlink>
        <a:srgbClr val="455A64"/>
      </a:folHlink>
    </a:clrScheme>
    <a:fontScheme name="QCN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Face Recognition with MG-QCNN – Mid-Semester</dc:title>
  <dc:subject>PptxGenJS Presentation</dc:subject>
  <dc:creator>Subrata Lodh, Yesh Agarwal</dc:creator>
  <cp:lastModifiedBy>Subrata Lodh, Yesh Agarwal</cp:lastModifiedBy>
  <cp:revision>1</cp:revision>
  <dcterms:created xsi:type="dcterms:W3CDTF">2026-10-06T16:48:34Z</dcterms:created>
  <dcterms:modified xsi:type="dcterms:W3CDTF">2026-10-06T16:48:34Z</dcterms:modified>
</cp:coreProperties>
</file>